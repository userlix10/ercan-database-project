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Libre Baskerville Bold" charset="1" panose="02000000000000000000"/>
      <p:regular r:id="rId33"/>
    </p:embeddedFont>
    <p:embeddedFont>
      <p:font typeface="Public Sans" charset="1" panose="00000000000000000000"/>
      <p:regular r:id="rId34"/>
    </p:embeddedFont>
    <p:embeddedFont>
      <p:font typeface="Libre Baskerville" charset="1" panose="02000000000000000000"/>
      <p:regular r:id="rId35"/>
    </p:embeddedFont>
    <p:embeddedFont>
      <p:font typeface="Canva Sans" charset="1" panose="020B0503030501040103"/>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862779" y="422424"/>
            <a:ext cx="15464680" cy="5461000"/>
          </a:xfrm>
          <a:prstGeom prst="rect">
            <a:avLst/>
          </a:prstGeom>
        </p:spPr>
        <p:txBody>
          <a:bodyPr anchor="t" rtlCol="false" tIns="0" lIns="0" bIns="0" rIns="0">
            <a:spAutoFit/>
          </a:bodyPr>
          <a:lstStyle/>
          <a:p>
            <a:pPr algn="l">
              <a:lnSpc>
                <a:spcPts val="14299"/>
              </a:lnSpc>
            </a:pPr>
            <a:r>
              <a:rPr lang="en-US" b="true" sz="12999" spc="-259">
                <a:solidFill>
                  <a:srgbClr val="F6F2E5"/>
                </a:solidFill>
                <a:latin typeface="Libre Baskerville Bold"/>
                <a:ea typeface="Libre Baskerville Bold"/>
                <a:cs typeface="Libre Baskerville Bold"/>
                <a:sym typeface="Libre Baskerville Bold"/>
              </a:rPr>
              <a:t>PROJECT PRESENTATION &amp; REPORT </a:t>
            </a:r>
          </a:p>
        </p:txBody>
      </p:sp>
      <p:sp>
        <p:nvSpPr>
          <p:cNvPr name="TextBox 3" id="3"/>
          <p:cNvSpPr txBox="true"/>
          <p:nvPr/>
        </p:nvSpPr>
        <p:spPr>
          <a:xfrm rot="0">
            <a:off x="12516877" y="6010181"/>
            <a:ext cx="13931736" cy="1148461"/>
          </a:xfrm>
          <a:prstGeom prst="rect">
            <a:avLst/>
          </a:prstGeom>
        </p:spPr>
        <p:txBody>
          <a:bodyPr anchor="t" rtlCol="false" tIns="0" lIns="0" bIns="0" rIns="0">
            <a:spAutoFit/>
          </a:bodyPr>
          <a:lstStyle/>
          <a:p>
            <a:pPr algn="l">
              <a:lnSpc>
                <a:spcPts val="9460"/>
              </a:lnSpc>
              <a:spcBef>
                <a:spcPct val="0"/>
              </a:spcBef>
            </a:pPr>
            <a:r>
              <a:rPr lang="en-US" sz="6757" spc="135">
                <a:solidFill>
                  <a:srgbClr val="F6F2E5"/>
                </a:solidFill>
                <a:latin typeface="Public Sans"/>
                <a:ea typeface="Public Sans"/>
                <a:cs typeface="Public Sans"/>
                <a:sym typeface="Public Sans"/>
              </a:rPr>
              <a:t>(CMPE343)</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5201753" y="820251"/>
            <a:ext cx="6760724" cy="1272764"/>
          </a:xfrm>
          <a:prstGeom prst="rect">
            <a:avLst/>
          </a:prstGeom>
        </p:spPr>
        <p:txBody>
          <a:bodyPr anchor="t" rtlCol="false" tIns="0" lIns="0" bIns="0" rIns="0">
            <a:spAutoFit/>
          </a:bodyPr>
          <a:lstStyle/>
          <a:p>
            <a:pPr algn="ctr">
              <a:lnSpc>
                <a:spcPts val="9836"/>
              </a:lnSpc>
              <a:spcBef>
                <a:spcPct val="0"/>
              </a:spcBef>
            </a:pPr>
            <a:r>
              <a:rPr lang="en-US" b="true" sz="8942" spc="-178">
                <a:solidFill>
                  <a:srgbClr val="FFFFFF"/>
                </a:solidFill>
                <a:latin typeface="Libre Baskerville Bold"/>
                <a:ea typeface="Libre Baskerville Bold"/>
                <a:cs typeface="Libre Baskerville Bold"/>
                <a:sym typeface="Libre Baskerville Bold"/>
              </a:rPr>
              <a:t>MEMBERS</a:t>
            </a:r>
          </a:p>
        </p:txBody>
      </p:sp>
      <p:sp>
        <p:nvSpPr>
          <p:cNvPr name="TextBox 3" id="3"/>
          <p:cNvSpPr txBox="true"/>
          <p:nvPr/>
        </p:nvSpPr>
        <p:spPr>
          <a:xfrm rot="0">
            <a:off x="1028700" y="3560065"/>
            <a:ext cx="16230600" cy="4180840"/>
          </a:xfrm>
          <a:prstGeom prst="rect">
            <a:avLst/>
          </a:prstGeom>
        </p:spPr>
        <p:txBody>
          <a:bodyPr anchor="t" rtlCol="false" tIns="0" lIns="0" bIns="0" rIns="0">
            <a:spAutoFit/>
          </a:bodyPr>
          <a:lstStyle/>
          <a:p>
            <a:pPr algn="ctr">
              <a:lnSpc>
                <a:spcPts val="4759"/>
              </a:lnSpc>
            </a:pPr>
            <a:r>
              <a:rPr lang="en-US" sz="3399">
                <a:solidFill>
                  <a:srgbClr val="FFDE59"/>
                </a:solidFill>
                <a:latin typeface="Libre Baskerville"/>
                <a:ea typeface="Libre Baskerville"/>
                <a:cs typeface="Libre Baskerville"/>
                <a:sym typeface="Libre Baskerville"/>
              </a:rPr>
              <a:t>ZAKARIA EL MILKI (22321066): </a:t>
            </a:r>
            <a:r>
              <a:rPr lang="en-US" sz="3399">
                <a:solidFill>
                  <a:srgbClr val="FFFFFF"/>
                </a:solidFill>
                <a:latin typeface="Libre Baskerville"/>
                <a:ea typeface="Libre Baskerville"/>
                <a:cs typeface="Libre Baskerville"/>
                <a:sym typeface="Libre Baskerville"/>
              </a:rPr>
              <a:t>Observed library systems, created the ER-diagram and managed the DDL and DML files in order to visualize a library’s system.</a:t>
            </a:r>
          </a:p>
          <a:p>
            <a:pPr algn="ctr">
              <a:lnSpc>
                <a:spcPts val="4759"/>
              </a:lnSpc>
            </a:pPr>
            <a:r>
              <a:rPr lang="en-US" sz="3399">
                <a:solidFill>
                  <a:srgbClr val="FFDE59"/>
                </a:solidFill>
                <a:latin typeface="Libre Baskerville"/>
                <a:ea typeface="Libre Baskerville"/>
                <a:cs typeface="Libre Baskerville"/>
                <a:sym typeface="Libre Baskerville"/>
              </a:rPr>
              <a:t> MOHAMMED AMINE EL MAHDI (22323103) &amp; IBRAHIM ALBADWI (22320651):</a:t>
            </a:r>
            <a:r>
              <a:rPr lang="en-US" sz="3399">
                <a:solidFill>
                  <a:srgbClr val="FFFFFF"/>
                </a:solidFill>
                <a:latin typeface="Libre Baskerville"/>
                <a:ea typeface="Libre Baskerville"/>
                <a:cs typeface="Libre Baskerville"/>
                <a:sym typeface="Libre Baskerville"/>
              </a:rPr>
              <a:t>Created queries, tested them and made the report by following the structure and by adding the relevant information.</a:t>
            </a:r>
          </a:p>
          <a:p>
            <a:pPr algn="ctr">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624357" y="1085850"/>
            <a:ext cx="7604074" cy="910291"/>
          </a:xfrm>
          <a:prstGeom prst="rect">
            <a:avLst/>
          </a:prstGeom>
        </p:spPr>
        <p:txBody>
          <a:bodyPr anchor="t" rtlCol="false" tIns="0" lIns="0" bIns="0" rIns="0">
            <a:spAutoFit/>
          </a:bodyPr>
          <a:lstStyle/>
          <a:p>
            <a:pPr algn="ctr">
              <a:lnSpc>
                <a:spcPts val="7005"/>
              </a:lnSpc>
              <a:spcBef>
                <a:spcPct val="0"/>
              </a:spcBef>
            </a:pPr>
            <a:r>
              <a:rPr lang="en-US" b="true" sz="6368" spc="-127">
                <a:solidFill>
                  <a:srgbClr val="FFFFFF"/>
                </a:solidFill>
                <a:latin typeface="Libre Baskerville Bold"/>
                <a:ea typeface="Libre Baskerville Bold"/>
                <a:cs typeface="Libre Baskerville Bold"/>
                <a:sym typeface="Libre Baskerville Bold"/>
              </a:rPr>
              <a:t>INTRODUCTION</a:t>
            </a:r>
          </a:p>
        </p:txBody>
      </p:sp>
      <p:sp>
        <p:nvSpPr>
          <p:cNvPr name="TextBox 3" id="3"/>
          <p:cNvSpPr txBox="true"/>
          <p:nvPr/>
        </p:nvSpPr>
        <p:spPr>
          <a:xfrm rot="0">
            <a:off x="142218" y="3634821"/>
            <a:ext cx="18288000" cy="3580765"/>
          </a:xfrm>
          <a:prstGeom prst="rect">
            <a:avLst/>
          </a:prstGeom>
        </p:spPr>
        <p:txBody>
          <a:bodyPr anchor="t" rtlCol="false" tIns="0" lIns="0" bIns="0" rIns="0">
            <a:spAutoFit/>
          </a:bodyPr>
          <a:lstStyle/>
          <a:p>
            <a:pPr algn="ctr">
              <a:lnSpc>
                <a:spcPts val="4759"/>
              </a:lnSpc>
            </a:pPr>
            <a:r>
              <a:rPr lang="en-US" sz="3399">
                <a:solidFill>
                  <a:srgbClr val="FFFFFF"/>
                </a:solidFill>
                <a:latin typeface="Libre Baskerville"/>
                <a:ea typeface="Libre Baskerville"/>
                <a:cs typeface="Libre Baskerville"/>
                <a:sym typeface="Libre Baskerville"/>
              </a:rPr>
              <a:t>The following project implements a relational </a:t>
            </a:r>
            <a:r>
              <a:rPr lang="en-US" sz="3399">
                <a:solidFill>
                  <a:srgbClr val="FFFFFF"/>
                </a:solidFill>
                <a:latin typeface="Libre Baskerville"/>
                <a:ea typeface="Libre Baskerville"/>
                <a:cs typeface="Libre Baskerville"/>
                <a:sym typeface="Libre Baskerville"/>
              </a:rPr>
              <a:t>database for Ercan Airport, managing airplanes, technical staff, traffic controllers, hangar storage, and safety inspections. It ensures data integrity through complex relationships and foreign keys, supporting queries that help track aircraft maintenance, monitor technician expertise, analyze hangar occupancy, and manage airport operations efficiently.</a:t>
            </a:r>
          </a:p>
          <a:p>
            <a:pPr algn="ctr">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374498" y="883903"/>
            <a:ext cx="7610287" cy="666626"/>
          </a:xfrm>
          <a:prstGeom prst="rect">
            <a:avLst/>
          </a:prstGeom>
        </p:spPr>
        <p:txBody>
          <a:bodyPr anchor="t" rtlCol="false" tIns="0" lIns="0" bIns="0" rIns="0">
            <a:spAutoFit/>
          </a:bodyPr>
          <a:lstStyle/>
          <a:p>
            <a:pPr algn="ctr">
              <a:lnSpc>
                <a:spcPts val="5161"/>
              </a:lnSpc>
              <a:spcBef>
                <a:spcPct val="0"/>
              </a:spcBef>
            </a:pPr>
            <a:r>
              <a:rPr lang="en-US" b="true" sz="4691" spc="-93">
                <a:solidFill>
                  <a:srgbClr val="FFFFFF"/>
                </a:solidFill>
                <a:latin typeface="Libre Baskerville Bold"/>
                <a:ea typeface="Libre Baskerville Bold"/>
                <a:cs typeface="Libre Baskerville Bold"/>
                <a:sym typeface="Libre Baskerville Bold"/>
              </a:rPr>
              <a:t>OVERALL STRUCTURE</a:t>
            </a:r>
          </a:p>
        </p:txBody>
      </p:sp>
      <p:sp>
        <p:nvSpPr>
          <p:cNvPr name="TextBox 3" id="3"/>
          <p:cNvSpPr txBox="true"/>
          <p:nvPr/>
        </p:nvSpPr>
        <p:spPr>
          <a:xfrm rot="0">
            <a:off x="658934" y="2148194"/>
            <a:ext cx="17629066" cy="71812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Employees</a:t>
            </a:r>
            <a:r>
              <a:rPr lang="en-US" sz="3399">
                <a:solidFill>
                  <a:srgbClr val="FFFFFF"/>
                </a:solidFill>
                <a:latin typeface="Canva Sans"/>
                <a:ea typeface="Canva Sans"/>
                <a:cs typeface="Canva Sans"/>
                <a:sym typeface="Canva Sans"/>
              </a:rPr>
              <a:t> (ssn (PK), full_name, a</a:t>
            </a:r>
            <a:r>
              <a:rPr lang="en-US" sz="3399">
                <a:solidFill>
                  <a:srgbClr val="FFFFFF"/>
                </a:solidFill>
                <a:latin typeface="Canva Sans"/>
                <a:ea typeface="Canva Sans"/>
                <a:cs typeface="Canva Sans"/>
                <a:sym typeface="Canva Sans"/>
              </a:rPr>
              <a:t>ddress, union_membership_no, salary)</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Technicians </a:t>
            </a:r>
            <a:r>
              <a:rPr lang="en-US" sz="3399">
                <a:solidFill>
                  <a:srgbClr val="FFFFFF"/>
                </a:solidFill>
                <a:latin typeface="Canva Sans"/>
                <a:ea typeface="Canva Sans"/>
                <a:cs typeface="Canva Sans"/>
                <a:sym typeface="Canva Sans"/>
              </a:rPr>
              <a:t>(ssn (PK/FK), rank)</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TrafficControllers</a:t>
            </a:r>
            <a:r>
              <a:rPr lang="en-US" sz="3399">
                <a:solidFill>
                  <a:srgbClr val="FFFFFF"/>
                </a:solidFill>
                <a:latin typeface="Canva Sans"/>
                <a:ea typeface="Canva Sans"/>
                <a:cs typeface="Canva Sans"/>
                <a:sym typeface="Canva Sans"/>
              </a:rPr>
              <a:t> (ssn (PK/FK), last_exam_date)</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PlaneModels</a:t>
            </a:r>
            <a:r>
              <a:rPr lang="en-US" sz="3399">
                <a:solidFill>
                  <a:srgbClr val="FFFFFF"/>
                </a:solidFill>
                <a:latin typeface="Canva Sans"/>
                <a:ea typeface="Canva Sans"/>
                <a:cs typeface="Canva Sans"/>
                <a:sym typeface="Canva Sans"/>
              </a:rPr>
              <a:t> (model_id (PK), manufacturer, capacity)</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Airplanes </a:t>
            </a:r>
            <a:r>
              <a:rPr lang="en-US" sz="3399">
                <a:solidFill>
                  <a:srgbClr val="FFFFFF"/>
                </a:solidFill>
                <a:latin typeface="Canva Sans"/>
                <a:ea typeface="Canva Sans"/>
                <a:cs typeface="Canva Sans"/>
                <a:sym typeface="Canva Sans"/>
              </a:rPr>
              <a:t>(plane_reg_no (PK), model_id (FK))</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Hangars </a:t>
            </a:r>
            <a:r>
              <a:rPr lang="en-US" sz="3399">
                <a:solidFill>
                  <a:srgbClr val="FFFFFF"/>
                </a:solidFill>
                <a:latin typeface="Canva Sans"/>
                <a:ea typeface="Canva Sans"/>
                <a:cs typeface="Canva Sans"/>
                <a:sym typeface="Canva Sans"/>
              </a:rPr>
              <a:t>(hangar_id (PK), location, capacity)</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HangarLogs</a:t>
            </a:r>
            <a:r>
              <a:rPr lang="en-US" sz="3399">
                <a:solidFill>
                  <a:srgbClr val="FFFFFF"/>
                </a:solidFill>
                <a:latin typeface="Canva Sans"/>
                <a:ea typeface="Canva Sans"/>
                <a:cs typeface="Canva Sans"/>
                <a:sym typeface="Canva Sans"/>
              </a:rPr>
              <a:t> (log_id (PK), plane_reg_no (FK), hangar_id (FK), in_time, out_time)</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TestTypes</a:t>
            </a:r>
            <a:r>
              <a:rPr lang="en-US" sz="3399">
                <a:solidFill>
                  <a:srgbClr val="FFFFFF"/>
                </a:solidFill>
                <a:latin typeface="Canva Sans"/>
                <a:ea typeface="Canva Sans"/>
                <a:cs typeface="Canva Sans"/>
                <a:sym typeface="Canva Sans"/>
              </a:rPr>
              <a:t> (test_id (PK), test_name, max_score)</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Expertise</a:t>
            </a:r>
            <a:r>
              <a:rPr lang="en-US" sz="3399">
                <a:solidFill>
                  <a:srgbClr val="FFFFFF"/>
                </a:solidFill>
                <a:latin typeface="Canva Sans"/>
                <a:ea typeface="Canva Sans"/>
                <a:cs typeface="Canva Sans"/>
                <a:sym typeface="Canva Sans"/>
              </a:rPr>
              <a:t> (ssn (PK/FK), model_id (PK/FK))</a:t>
            </a:r>
          </a:p>
          <a:p>
            <a:pPr algn="l" marL="734059" indent="-367030" lvl="1">
              <a:lnSpc>
                <a:spcPts val="4759"/>
              </a:lnSpc>
              <a:buFont typeface="Arial"/>
              <a:buChar char="•"/>
            </a:pPr>
            <a:r>
              <a:rPr lang="en-US" sz="3399">
                <a:solidFill>
                  <a:srgbClr val="FFDE59"/>
                </a:solidFill>
                <a:latin typeface="Canva Sans"/>
                <a:ea typeface="Canva Sans"/>
                <a:cs typeface="Canva Sans"/>
                <a:sym typeface="Canva Sans"/>
              </a:rPr>
              <a:t>TestRecords</a:t>
            </a:r>
            <a:r>
              <a:rPr lang="en-US" sz="3399">
                <a:solidFill>
                  <a:srgbClr val="FFFFFF"/>
                </a:solidFill>
                <a:latin typeface="Canva Sans"/>
                <a:ea typeface="Canva Sans"/>
                <a:cs typeface="Canva Sans"/>
                <a:sym typeface="Canva Sans"/>
              </a:rPr>
              <a:t> (event_id (PK), ssn (FK), plane_reg_no (FK), test_id (FK), test_date, hours_spent, score)</a:t>
            </a:r>
          </a:p>
          <a:p>
            <a:pPr algn="l">
              <a:lnSpc>
                <a:spcPts val="4759"/>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331841" y="751210"/>
            <a:ext cx="13813830" cy="1875169"/>
          </a:xfrm>
          <a:prstGeom prst="rect">
            <a:avLst/>
          </a:prstGeom>
        </p:spPr>
        <p:txBody>
          <a:bodyPr anchor="t" rtlCol="false" tIns="0" lIns="0" bIns="0" rIns="0">
            <a:spAutoFit/>
          </a:bodyPr>
          <a:lstStyle/>
          <a:p>
            <a:pPr algn="l">
              <a:lnSpc>
                <a:spcPts val="7316"/>
              </a:lnSpc>
              <a:spcBef>
                <a:spcPct val="0"/>
              </a:spcBef>
            </a:pPr>
            <a:r>
              <a:rPr lang="en-US" b="true" sz="6651" spc="-133">
                <a:solidFill>
                  <a:srgbClr val="FFFFFF"/>
                </a:solidFill>
                <a:latin typeface="Libre Baskerville Bold"/>
                <a:ea typeface="Libre Baskerville Bold"/>
                <a:cs typeface="Libre Baskerville Bold"/>
                <a:sym typeface="Libre Baskerville Bold"/>
              </a:rPr>
              <a:t>RELATIONSHIPS BETWEEN ENTITIES</a:t>
            </a:r>
          </a:p>
        </p:txBody>
      </p:sp>
      <p:sp>
        <p:nvSpPr>
          <p:cNvPr name="TextBox 3" id="3"/>
          <p:cNvSpPr txBox="true"/>
          <p:nvPr/>
        </p:nvSpPr>
        <p:spPr>
          <a:xfrm rot="0">
            <a:off x="331841" y="2985543"/>
            <a:ext cx="16759235" cy="5705928"/>
          </a:xfrm>
          <a:prstGeom prst="rect">
            <a:avLst/>
          </a:prstGeom>
        </p:spPr>
        <p:txBody>
          <a:bodyPr anchor="t" rtlCol="false" tIns="0" lIns="0" bIns="0" rIns="0">
            <a:spAutoFit/>
          </a:bodyPr>
          <a:lstStyle/>
          <a:p>
            <a:pPr algn="just" marL="699911" indent="-349956" lvl="1">
              <a:lnSpc>
                <a:spcPts val="4538"/>
              </a:lnSpc>
              <a:buFont typeface="Arial"/>
              <a:buChar char="•"/>
            </a:pPr>
            <a:r>
              <a:rPr lang="en-US" sz="3241">
                <a:solidFill>
                  <a:srgbClr val="FFFFFF"/>
                </a:solidFill>
                <a:latin typeface="Libre Baskerville"/>
                <a:ea typeface="Libre Baskerville"/>
                <a:cs typeface="Libre Baskerville"/>
                <a:sym typeface="Libre Baskerville"/>
              </a:rPr>
              <a:t>Employees and Roles: Technicians and Traffic Controllers are specialized types of Employees (1:1).</a:t>
            </a:r>
          </a:p>
          <a:p>
            <a:pPr algn="just" marL="699911" indent="-349956" lvl="1">
              <a:lnSpc>
                <a:spcPts val="4538"/>
              </a:lnSpc>
              <a:buFont typeface="Arial"/>
              <a:buChar char="•"/>
            </a:pPr>
            <a:r>
              <a:rPr lang="en-US" sz="3241">
                <a:solidFill>
                  <a:srgbClr val="FFFFFF"/>
                </a:solidFill>
                <a:latin typeface="Libre Baskerville"/>
                <a:ea typeface="Libre Baskerville"/>
                <a:cs typeface="Libre Baskerville"/>
                <a:sym typeface="Libre Baskerville"/>
              </a:rPr>
              <a:t>Models and </a:t>
            </a:r>
            <a:r>
              <a:rPr lang="en-US" sz="3241">
                <a:solidFill>
                  <a:srgbClr val="FFFFFF"/>
                </a:solidFill>
                <a:latin typeface="Libre Baskerville"/>
                <a:ea typeface="Libre Baskerville"/>
                <a:cs typeface="Libre Baskerville"/>
                <a:sym typeface="Libre Baskerville"/>
              </a:rPr>
              <a:t>Airplanes: Each specific airplane belongs to one model, but a model can have many airplanes (1:N).</a:t>
            </a:r>
          </a:p>
          <a:p>
            <a:pPr algn="just" marL="699911" indent="-349956" lvl="1">
              <a:lnSpc>
                <a:spcPts val="4538"/>
              </a:lnSpc>
              <a:buFont typeface="Arial"/>
              <a:buChar char="•"/>
            </a:pPr>
            <a:r>
              <a:rPr lang="en-US" sz="3241">
                <a:solidFill>
                  <a:srgbClr val="FFFFFF"/>
                </a:solidFill>
                <a:latin typeface="Libre Baskerville"/>
                <a:ea typeface="Libre Baskerville"/>
                <a:cs typeface="Libre Baskerville"/>
                <a:sym typeface="Libre Baskerville"/>
              </a:rPr>
              <a:t>Expertise: Technicians are certified for specific plane models (N:N).</a:t>
            </a:r>
          </a:p>
          <a:p>
            <a:pPr algn="just" marL="699911" indent="-349956" lvl="1">
              <a:lnSpc>
                <a:spcPts val="4538"/>
              </a:lnSpc>
              <a:buFont typeface="Arial"/>
              <a:buChar char="•"/>
            </a:pPr>
            <a:r>
              <a:rPr lang="en-US" sz="3241">
                <a:solidFill>
                  <a:srgbClr val="FFFFFF"/>
                </a:solidFill>
                <a:latin typeface="Libre Baskerville"/>
                <a:ea typeface="Libre Baskerville"/>
                <a:cs typeface="Libre Baskerville"/>
                <a:sym typeface="Libre Baskerville"/>
              </a:rPr>
              <a:t>Hangar Tracking: An airplane is logged into a hangar for a specific duration (1:N).</a:t>
            </a:r>
          </a:p>
          <a:p>
            <a:pPr algn="just" marL="699911" indent="-349956" lvl="1">
              <a:lnSpc>
                <a:spcPts val="4538"/>
              </a:lnSpc>
              <a:buFont typeface="Arial"/>
              <a:buChar char="•"/>
            </a:pPr>
            <a:r>
              <a:rPr lang="en-US" sz="3241">
                <a:solidFill>
                  <a:srgbClr val="FFFFFF"/>
                </a:solidFill>
                <a:latin typeface="Libre Baskerville"/>
                <a:ea typeface="Libre Baskerville"/>
                <a:cs typeface="Libre Baskerville"/>
                <a:sym typeface="Libre Baskerville"/>
              </a:rPr>
              <a:t>Testing: Technicians use specific tests to check airplanes, creating a detailed record of the event.</a:t>
            </a:r>
          </a:p>
          <a:p>
            <a:pPr algn="just">
              <a:lnSpc>
                <a:spcPts val="453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754222" y="2104483"/>
            <a:ext cx="17075799" cy="7153817"/>
          </a:xfrm>
          <a:custGeom>
            <a:avLst/>
            <a:gdLst/>
            <a:ahLst/>
            <a:cxnLst/>
            <a:rect r="r" b="b" t="t" l="l"/>
            <a:pathLst>
              <a:path h="7153817" w="17075799">
                <a:moveTo>
                  <a:pt x="0" y="0"/>
                </a:moveTo>
                <a:lnTo>
                  <a:pt x="17075800" y="0"/>
                </a:lnTo>
                <a:lnTo>
                  <a:pt x="17075800" y="7153817"/>
                </a:lnTo>
                <a:lnTo>
                  <a:pt x="0" y="7153817"/>
                </a:lnTo>
                <a:lnTo>
                  <a:pt x="0" y="0"/>
                </a:lnTo>
                <a:close/>
              </a:path>
            </a:pathLst>
          </a:custGeom>
          <a:blipFill>
            <a:blip r:embed="rId2"/>
            <a:stretch>
              <a:fillRect l="0" t="-821" r="-1387" b="-821"/>
            </a:stretch>
          </a:blipFill>
        </p:spPr>
      </p:sp>
      <p:sp>
        <p:nvSpPr>
          <p:cNvPr name="TextBox 3" id="3"/>
          <p:cNvSpPr txBox="true"/>
          <p:nvPr/>
        </p:nvSpPr>
        <p:spPr>
          <a:xfrm rot="0">
            <a:off x="1926165" y="314640"/>
            <a:ext cx="14435669" cy="714060"/>
          </a:xfrm>
          <a:prstGeom prst="rect">
            <a:avLst/>
          </a:prstGeom>
        </p:spPr>
        <p:txBody>
          <a:bodyPr anchor="t" rtlCol="false" tIns="0" lIns="0" bIns="0" rIns="0">
            <a:spAutoFit/>
          </a:bodyPr>
          <a:lstStyle/>
          <a:p>
            <a:pPr algn="ctr">
              <a:lnSpc>
                <a:spcPts val="5503"/>
              </a:lnSpc>
              <a:spcBef>
                <a:spcPct val="0"/>
              </a:spcBef>
            </a:pPr>
            <a:r>
              <a:rPr lang="en-US" b="true" sz="5003" spc="-100">
                <a:solidFill>
                  <a:srgbClr val="FFFFFF"/>
                </a:solidFill>
                <a:latin typeface="Libre Baskerville Bold"/>
                <a:ea typeface="Libre Baskerville Bold"/>
                <a:cs typeface="Libre Baskerville Bold"/>
                <a:sym typeface="Libre Baskerville Bold"/>
              </a:rPr>
              <a:t>ENTITY RELATIONSHIP DIAGRAM (ERD) </a:t>
            </a:r>
          </a:p>
        </p:txBody>
      </p:sp>
      <p:sp>
        <p:nvSpPr>
          <p:cNvPr name="AutoShape 4" id="4"/>
          <p:cNvSpPr/>
          <p:nvPr/>
        </p:nvSpPr>
        <p:spPr>
          <a:xfrm>
            <a:off x="16815900" y="5461539"/>
            <a:ext cx="707902" cy="0"/>
          </a:xfrm>
          <a:prstGeom prst="line">
            <a:avLst/>
          </a:prstGeom>
          <a:ln cap="flat" w="38100">
            <a:solidFill>
              <a:srgbClr val="FFFFFF"/>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732426" y="2330353"/>
            <a:ext cx="7857870" cy="5991626"/>
          </a:xfrm>
          <a:custGeom>
            <a:avLst/>
            <a:gdLst/>
            <a:ahLst/>
            <a:cxnLst/>
            <a:rect r="r" b="b" t="t" l="l"/>
            <a:pathLst>
              <a:path h="5991626" w="7857870">
                <a:moveTo>
                  <a:pt x="0" y="0"/>
                </a:moveTo>
                <a:lnTo>
                  <a:pt x="7857869" y="0"/>
                </a:lnTo>
                <a:lnTo>
                  <a:pt x="7857869" y="5991626"/>
                </a:lnTo>
                <a:lnTo>
                  <a:pt x="0" y="5991626"/>
                </a:lnTo>
                <a:lnTo>
                  <a:pt x="0" y="0"/>
                </a:lnTo>
                <a:close/>
              </a:path>
            </a:pathLst>
          </a:custGeom>
          <a:blipFill>
            <a:blip r:embed="rId2"/>
            <a:stretch>
              <a:fillRect l="0" t="0" r="0" b="0"/>
            </a:stretch>
          </a:blipFill>
        </p:spPr>
      </p:sp>
      <p:sp>
        <p:nvSpPr>
          <p:cNvPr name="Freeform 3" id="3"/>
          <p:cNvSpPr/>
          <p:nvPr/>
        </p:nvSpPr>
        <p:spPr>
          <a:xfrm flipH="false" flipV="false" rot="0">
            <a:off x="10834795" y="2147687"/>
            <a:ext cx="6031164" cy="6356958"/>
          </a:xfrm>
          <a:custGeom>
            <a:avLst/>
            <a:gdLst/>
            <a:ahLst/>
            <a:cxnLst/>
            <a:rect r="r" b="b" t="t" l="l"/>
            <a:pathLst>
              <a:path h="6356958" w="6031164">
                <a:moveTo>
                  <a:pt x="0" y="0"/>
                </a:moveTo>
                <a:lnTo>
                  <a:pt x="6031164" y="0"/>
                </a:lnTo>
                <a:lnTo>
                  <a:pt x="6031164" y="6356958"/>
                </a:lnTo>
                <a:lnTo>
                  <a:pt x="0" y="6356958"/>
                </a:lnTo>
                <a:lnTo>
                  <a:pt x="0" y="0"/>
                </a:lnTo>
                <a:close/>
              </a:path>
            </a:pathLst>
          </a:custGeom>
          <a:blipFill>
            <a:blip r:embed="rId3"/>
            <a:stretch>
              <a:fillRect l="0" t="0" r="0" b="0"/>
            </a:stretch>
          </a:blipFill>
        </p:spPr>
      </p:sp>
      <p:sp>
        <p:nvSpPr>
          <p:cNvPr name="TextBox 4" id="4"/>
          <p:cNvSpPr txBox="true"/>
          <p:nvPr/>
        </p:nvSpPr>
        <p:spPr>
          <a:xfrm rot="0">
            <a:off x="1988528" y="320274"/>
            <a:ext cx="14310944" cy="1464476"/>
          </a:xfrm>
          <a:prstGeom prst="rect">
            <a:avLst/>
          </a:prstGeom>
        </p:spPr>
        <p:txBody>
          <a:bodyPr anchor="t" rtlCol="false" tIns="0" lIns="0" bIns="0" rIns="0">
            <a:spAutoFit/>
          </a:bodyPr>
          <a:lstStyle/>
          <a:p>
            <a:pPr algn="ctr">
              <a:lnSpc>
                <a:spcPts val="5725"/>
              </a:lnSpc>
              <a:spcBef>
                <a:spcPct val="0"/>
              </a:spcBef>
            </a:pPr>
            <a:r>
              <a:rPr lang="en-US" b="true" sz="5204" spc="-104">
                <a:solidFill>
                  <a:srgbClr val="FFFFFF"/>
                </a:solidFill>
                <a:latin typeface="Libre Baskerville Bold"/>
                <a:ea typeface="Libre Baskerville Bold"/>
                <a:cs typeface="Libre Baskerville Bold"/>
                <a:sym typeface="Libre Baskerville Bold"/>
              </a:rPr>
              <a:t>DDL ( MANAGING DATABASE AND TABLES)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3525088" y="2859917"/>
            <a:ext cx="11237823" cy="4567167"/>
          </a:xfrm>
          <a:custGeom>
            <a:avLst/>
            <a:gdLst/>
            <a:ahLst/>
            <a:cxnLst/>
            <a:rect r="r" b="b" t="t" l="l"/>
            <a:pathLst>
              <a:path h="4567167" w="11237823">
                <a:moveTo>
                  <a:pt x="0" y="0"/>
                </a:moveTo>
                <a:lnTo>
                  <a:pt x="11237824" y="0"/>
                </a:lnTo>
                <a:lnTo>
                  <a:pt x="11237824" y="4567166"/>
                </a:lnTo>
                <a:lnTo>
                  <a:pt x="0" y="4567166"/>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947357" y="2018554"/>
            <a:ext cx="6747521" cy="6249892"/>
          </a:xfrm>
          <a:custGeom>
            <a:avLst/>
            <a:gdLst/>
            <a:ahLst/>
            <a:cxnLst/>
            <a:rect r="r" b="b" t="t" l="l"/>
            <a:pathLst>
              <a:path h="6249892" w="6747521">
                <a:moveTo>
                  <a:pt x="0" y="0"/>
                </a:moveTo>
                <a:lnTo>
                  <a:pt x="6747522" y="0"/>
                </a:lnTo>
                <a:lnTo>
                  <a:pt x="6747522" y="6249892"/>
                </a:lnTo>
                <a:lnTo>
                  <a:pt x="0" y="6249892"/>
                </a:lnTo>
                <a:lnTo>
                  <a:pt x="0" y="0"/>
                </a:lnTo>
                <a:close/>
              </a:path>
            </a:pathLst>
          </a:custGeom>
          <a:blipFill>
            <a:blip r:embed="rId2"/>
            <a:stretch>
              <a:fillRect l="0" t="0" r="0" b="0"/>
            </a:stretch>
          </a:blipFill>
        </p:spPr>
      </p:sp>
      <p:sp>
        <p:nvSpPr>
          <p:cNvPr name="Freeform 3" id="3"/>
          <p:cNvSpPr/>
          <p:nvPr/>
        </p:nvSpPr>
        <p:spPr>
          <a:xfrm flipH="false" flipV="false" rot="0">
            <a:off x="9144000" y="2018554"/>
            <a:ext cx="8034931" cy="5955893"/>
          </a:xfrm>
          <a:custGeom>
            <a:avLst/>
            <a:gdLst/>
            <a:ahLst/>
            <a:cxnLst/>
            <a:rect r="r" b="b" t="t" l="l"/>
            <a:pathLst>
              <a:path h="5955893" w="8034931">
                <a:moveTo>
                  <a:pt x="0" y="0"/>
                </a:moveTo>
                <a:lnTo>
                  <a:pt x="8034931" y="0"/>
                </a:lnTo>
                <a:lnTo>
                  <a:pt x="8034931" y="5955893"/>
                </a:lnTo>
                <a:lnTo>
                  <a:pt x="0" y="5955893"/>
                </a:lnTo>
                <a:lnTo>
                  <a:pt x="0" y="0"/>
                </a:lnTo>
                <a:close/>
              </a:path>
            </a:pathLst>
          </a:custGeom>
          <a:blipFill>
            <a:blip r:embed="rId3"/>
            <a:stretch>
              <a:fillRect l="0" t="0" r="0" b="0"/>
            </a:stretch>
          </a:blipFill>
        </p:spPr>
      </p:sp>
      <p:sp>
        <p:nvSpPr>
          <p:cNvPr name="TextBox 4" id="4"/>
          <p:cNvSpPr txBox="true"/>
          <p:nvPr/>
        </p:nvSpPr>
        <p:spPr>
          <a:xfrm rot="0">
            <a:off x="4321118" y="251317"/>
            <a:ext cx="9102157" cy="936758"/>
          </a:xfrm>
          <a:prstGeom prst="rect">
            <a:avLst/>
          </a:prstGeom>
        </p:spPr>
        <p:txBody>
          <a:bodyPr anchor="t" rtlCol="false" tIns="0" lIns="0" bIns="0" rIns="0">
            <a:spAutoFit/>
          </a:bodyPr>
          <a:lstStyle/>
          <a:p>
            <a:pPr algn="ctr">
              <a:lnSpc>
                <a:spcPts val="7277"/>
              </a:lnSpc>
              <a:spcBef>
                <a:spcPct val="0"/>
              </a:spcBef>
            </a:pPr>
            <a:r>
              <a:rPr lang="en-US" b="true" sz="6615" spc="-132">
                <a:solidFill>
                  <a:srgbClr val="FFFFFF"/>
                </a:solidFill>
                <a:latin typeface="Libre Baskerville Bold"/>
                <a:ea typeface="Libre Baskerville Bold"/>
                <a:cs typeface="Libre Baskerville Bold"/>
                <a:sym typeface="Libre Baskerville Bold"/>
              </a:rPr>
              <a:t>DML STATEMENTS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7272260" y="1076325"/>
            <a:ext cx="2765176" cy="597863"/>
          </a:xfrm>
          <a:prstGeom prst="rect">
            <a:avLst/>
          </a:prstGeom>
        </p:spPr>
        <p:txBody>
          <a:bodyPr anchor="t" rtlCol="false" tIns="0" lIns="0" bIns="0" rIns="0">
            <a:spAutoFit/>
          </a:bodyPr>
          <a:lstStyle/>
          <a:p>
            <a:pPr algn="ctr">
              <a:lnSpc>
                <a:spcPts val="4681"/>
              </a:lnSpc>
              <a:spcBef>
                <a:spcPct val="0"/>
              </a:spcBef>
            </a:pPr>
            <a:r>
              <a:rPr lang="en-US" b="true" sz="4255" spc="-85">
                <a:solidFill>
                  <a:srgbClr val="FFFFFF"/>
                </a:solidFill>
                <a:latin typeface="Libre Baskerville Bold"/>
                <a:ea typeface="Libre Baskerville Bold"/>
                <a:cs typeface="Libre Baskerville Bold"/>
                <a:sym typeface="Libre Baskerville Bold"/>
              </a:rPr>
              <a:t>QUERIES</a:t>
            </a:r>
          </a:p>
        </p:txBody>
      </p:sp>
      <p:sp>
        <p:nvSpPr>
          <p:cNvPr name="TextBox 3" id="3"/>
          <p:cNvSpPr txBox="true"/>
          <p:nvPr/>
        </p:nvSpPr>
        <p:spPr>
          <a:xfrm rot="0">
            <a:off x="676378" y="3489734"/>
            <a:ext cx="16935244" cy="1653766"/>
          </a:xfrm>
          <a:prstGeom prst="rect">
            <a:avLst/>
          </a:prstGeom>
        </p:spPr>
        <p:txBody>
          <a:bodyPr anchor="t" rtlCol="false" tIns="0" lIns="0" bIns="0" rIns="0">
            <a:spAutoFit/>
          </a:bodyPr>
          <a:lstStyle/>
          <a:p>
            <a:pPr algn="ctr">
              <a:lnSpc>
                <a:spcPts val="4407"/>
              </a:lnSpc>
            </a:pPr>
            <a:r>
              <a:rPr lang="en-US" sz="3148">
                <a:solidFill>
                  <a:srgbClr val="FFFFFF"/>
                </a:solidFill>
                <a:latin typeface="Libre Baskerville"/>
                <a:ea typeface="Libre Baskerville"/>
                <a:cs typeface="Libre Baskerville"/>
                <a:sym typeface="Libre Baskerville"/>
              </a:rPr>
              <a:t>The following queries that will be displayed alongside with their output benefit much in filtering data in library database which outlines the important role of such techniques in facilitating the work and process of complex systems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5636403" y="3216945"/>
            <a:ext cx="7015195" cy="5564685"/>
          </a:xfrm>
          <a:custGeom>
            <a:avLst/>
            <a:gdLst/>
            <a:ahLst/>
            <a:cxnLst/>
            <a:rect r="r" b="b" t="t" l="l"/>
            <a:pathLst>
              <a:path h="5564685" w="7015195">
                <a:moveTo>
                  <a:pt x="0" y="0"/>
                </a:moveTo>
                <a:lnTo>
                  <a:pt x="7015194" y="0"/>
                </a:lnTo>
                <a:lnTo>
                  <a:pt x="7015194" y="5564685"/>
                </a:lnTo>
                <a:lnTo>
                  <a:pt x="0" y="5564685"/>
                </a:lnTo>
                <a:lnTo>
                  <a:pt x="0" y="0"/>
                </a:lnTo>
                <a:close/>
              </a:path>
            </a:pathLst>
          </a:custGeom>
          <a:blipFill>
            <a:blip r:embed="rId2"/>
            <a:stretch>
              <a:fillRect l="0" t="0" r="0" b="0"/>
            </a:stretch>
          </a:blipFill>
        </p:spPr>
      </p:sp>
      <p:sp>
        <p:nvSpPr>
          <p:cNvPr name="TextBox 3" id="3"/>
          <p:cNvSpPr txBox="true"/>
          <p:nvPr/>
        </p:nvSpPr>
        <p:spPr>
          <a:xfrm rot="0">
            <a:off x="198932" y="458883"/>
            <a:ext cx="14955068" cy="1187260"/>
          </a:xfrm>
          <a:prstGeom prst="rect">
            <a:avLst/>
          </a:prstGeom>
        </p:spPr>
        <p:txBody>
          <a:bodyPr anchor="t" rtlCol="false" tIns="0" lIns="0" bIns="0" rIns="0">
            <a:spAutoFit/>
          </a:bodyPr>
          <a:lstStyle/>
          <a:p>
            <a:pPr algn="ctr">
              <a:lnSpc>
                <a:spcPts val="4673"/>
              </a:lnSpc>
              <a:spcBef>
                <a:spcPct val="0"/>
              </a:spcBef>
            </a:pPr>
            <a:r>
              <a:rPr lang="en-US" b="true" sz="4248" spc="-84">
                <a:solidFill>
                  <a:srgbClr val="FFFFFF"/>
                </a:solidFill>
                <a:latin typeface="Libre Baskerville Bold"/>
                <a:ea typeface="Libre Baskerville Bold"/>
                <a:cs typeface="Libre Baskerville Bold"/>
                <a:sym typeface="Libre Baskerville Bold"/>
              </a:rPr>
              <a:t>-- Q1: LIST ALL EMPLO</a:t>
            </a:r>
            <a:r>
              <a:rPr lang="en-US" b="true" sz="4248" spc="-84">
                <a:solidFill>
                  <a:srgbClr val="FFFFFF"/>
                </a:solidFill>
                <a:latin typeface="Libre Baskerville Bold"/>
                <a:ea typeface="Libre Baskerville Bold"/>
                <a:cs typeface="Libre Baskerville Bold"/>
                <a:sym typeface="Libre Baskerville Bold"/>
              </a:rPr>
              <a:t>YEES AND THEIR SALARIES</a:t>
            </a:r>
          </a:p>
          <a:p>
            <a:pPr algn="ctr">
              <a:lnSpc>
                <a:spcPts val="4673"/>
              </a:lnSpc>
              <a:spcBef>
                <a:spcPct val="0"/>
              </a:spcBef>
            </a:pPr>
          </a:p>
        </p:txBody>
      </p:sp>
      <p:sp>
        <p:nvSpPr>
          <p:cNvPr name="TextBox 4" id="4"/>
          <p:cNvSpPr txBox="true"/>
          <p:nvPr/>
        </p:nvSpPr>
        <p:spPr>
          <a:xfrm rot="0">
            <a:off x="1252033" y="1579467"/>
            <a:ext cx="10173772" cy="1180465"/>
          </a:xfrm>
          <a:prstGeom prst="rect">
            <a:avLst/>
          </a:prstGeom>
        </p:spPr>
        <p:txBody>
          <a:bodyPr anchor="t" rtlCol="false" tIns="0" lIns="0" bIns="0" rIns="0">
            <a:spAutoFit/>
          </a:bodyPr>
          <a:lstStyle/>
          <a:p>
            <a:pPr algn="ctr">
              <a:lnSpc>
                <a:spcPts val="4759"/>
              </a:lnSpc>
            </a:pPr>
            <a:r>
              <a:rPr lang="en-US" sz="3399">
                <a:solidFill>
                  <a:srgbClr val="FFDE59"/>
                </a:solidFill>
                <a:latin typeface="Libre Baskerville"/>
                <a:ea typeface="Libre Baskerville"/>
                <a:cs typeface="Libre Baskerville"/>
                <a:sym typeface="Libre Baskerville"/>
              </a:rPr>
              <a:t>SELECT full_name, salary FROM Employees;</a:t>
            </a:r>
          </a:p>
          <a:p>
            <a:pPr algn="ctr">
              <a:lnSpc>
                <a:spcPts val="475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4401384" y="4734659"/>
            <a:ext cx="9485232" cy="4523641"/>
          </a:xfrm>
          <a:custGeom>
            <a:avLst/>
            <a:gdLst/>
            <a:ahLst/>
            <a:cxnLst/>
            <a:rect r="r" b="b" t="t" l="l"/>
            <a:pathLst>
              <a:path h="4523641" w="9485232">
                <a:moveTo>
                  <a:pt x="0" y="0"/>
                </a:moveTo>
                <a:lnTo>
                  <a:pt x="9485232" y="0"/>
                </a:lnTo>
                <a:lnTo>
                  <a:pt x="9485232" y="4523641"/>
                </a:lnTo>
                <a:lnTo>
                  <a:pt x="0" y="4523641"/>
                </a:lnTo>
                <a:lnTo>
                  <a:pt x="0" y="0"/>
                </a:lnTo>
                <a:close/>
              </a:path>
            </a:pathLst>
          </a:custGeom>
          <a:blipFill>
            <a:blip r:embed="rId2"/>
            <a:stretch>
              <a:fillRect l="0" t="-8933" r="0" b="0"/>
            </a:stretch>
          </a:blipFill>
        </p:spPr>
      </p:sp>
      <p:sp>
        <p:nvSpPr>
          <p:cNvPr name="TextBox 3" id="3"/>
          <p:cNvSpPr txBox="true"/>
          <p:nvPr/>
        </p:nvSpPr>
        <p:spPr>
          <a:xfrm rot="0">
            <a:off x="1469094" y="389745"/>
            <a:ext cx="14979512" cy="1769101"/>
          </a:xfrm>
          <a:prstGeom prst="rect">
            <a:avLst/>
          </a:prstGeom>
        </p:spPr>
        <p:txBody>
          <a:bodyPr anchor="t" rtlCol="false" tIns="0" lIns="0" bIns="0" rIns="0">
            <a:spAutoFit/>
          </a:bodyPr>
          <a:lstStyle/>
          <a:p>
            <a:pPr algn="ctr">
              <a:lnSpc>
                <a:spcPts val="4651"/>
              </a:lnSpc>
            </a:pPr>
            <a:r>
              <a:rPr lang="en-US" b="true" sz="4228" spc="-84">
                <a:solidFill>
                  <a:srgbClr val="FFFFFF"/>
                </a:solidFill>
                <a:latin typeface="Libre Baskerville Bold"/>
                <a:ea typeface="Libre Baskerville Bold"/>
                <a:cs typeface="Libre Baskerville Bold"/>
                <a:sym typeface="Libre Baskerville Bold"/>
              </a:rPr>
              <a:t>-- Q2: FIND ALL TECHNICIANS (JOINING EMPLOYEES AND TECHNICIANS)</a:t>
            </a:r>
          </a:p>
          <a:p>
            <a:pPr algn="ctr">
              <a:lnSpc>
                <a:spcPts val="4651"/>
              </a:lnSpc>
              <a:spcBef>
                <a:spcPct val="0"/>
              </a:spcBef>
            </a:pPr>
          </a:p>
        </p:txBody>
      </p:sp>
      <p:sp>
        <p:nvSpPr>
          <p:cNvPr name="TextBox 4" id="4"/>
          <p:cNvSpPr txBox="true"/>
          <p:nvPr/>
        </p:nvSpPr>
        <p:spPr>
          <a:xfrm rot="0">
            <a:off x="900112" y="1872255"/>
            <a:ext cx="8243888" cy="2380615"/>
          </a:xfrm>
          <a:prstGeom prst="rect">
            <a:avLst/>
          </a:prstGeom>
        </p:spPr>
        <p:txBody>
          <a:bodyPr anchor="t" rtlCol="false" tIns="0" lIns="0" bIns="0" rIns="0">
            <a:spAutoFit/>
          </a:bodyPr>
          <a:lstStyle/>
          <a:p>
            <a:pPr algn="ctr">
              <a:lnSpc>
                <a:spcPts val="4759"/>
              </a:lnSpc>
            </a:pPr>
            <a:r>
              <a:rPr lang="en-US" sz="3399">
                <a:solidFill>
                  <a:srgbClr val="FFDE59"/>
                </a:solidFill>
                <a:latin typeface="Libre Baskerville"/>
                <a:ea typeface="Libre Baskerville"/>
                <a:cs typeface="Libre Baskerville"/>
                <a:sym typeface="Libre Baskerville"/>
              </a:rPr>
              <a:t>SELECT E.full_name, T.rank </a:t>
            </a:r>
          </a:p>
          <a:p>
            <a:pPr algn="ctr">
              <a:lnSpc>
                <a:spcPts val="4759"/>
              </a:lnSpc>
            </a:pPr>
            <a:r>
              <a:rPr lang="en-US" sz="3399">
                <a:solidFill>
                  <a:srgbClr val="FFDE59"/>
                </a:solidFill>
                <a:latin typeface="Libre Baskerville"/>
                <a:ea typeface="Libre Baskerville"/>
                <a:cs typeface="Libre Baskerville"/>
                <a:sym typeface="Libre Baskerville"/>
              </a:rPr>
              <a:t>FROM Employees E </a:t>
            </a:r>
          </a:p>
          <a:p>
            <a:pPr algn="ctr">
              <a:lnSpc>
                <a:spcPts val="4759"/>
              </a:lnSpc>
            </a:pPr>
            <a:r>
              <a:rPr lang="en-US" sz="3399">
                <a:solidFill>
                  <a:srgbClr val="FFDE59"/>
                </a:solidFill>
                <a:latin typeface="Libre Baskerville"/>
                <a:ea typeface="Libre Baskerville"/>
                <a:cs typeface="Libre Baskerville"/>
                <a:sym typeface="Libre Baskerville"/>
              </a:rPr>
              <a:t>JOIN Technicians T ON E.ssn = T.ssn;</a:t>
            </a:r>
          </a:p>
          <a:p>
            <a:pPr algn="ctr">
              <a:lnSpc>
                <a:spcPts val="475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4314585" y="5143500"/>
            <a:ext cx="9658830" cy="2912907"/>
          </a:xfrm>
          <a:custGeom>
            <a:avLst/>
            <a:gdLst/>
            <a:ahLst/>
            <a:cxnLst/>
            <a:rect r="r" b="b" t="t" l="l"/>
            <a:pathLst>
              <a:path h="2912907" w="9658830">
                <a:moveTo>
                  <a:pt x="0" y="0"/>
                </a:moveTo>
                <a:lnTo>
                  <a:pt x="9658830" y="0"/>
                </a:lnTo>
                <a:lnTo>
                  <a:pt x="9658830" y="2912907"/>
                </a:lnTo>
                <a:lnTo>
                  <a:pt x="0" y="2912907"/>
                </a:lnTo>
                <a:lnTo>
                  <a:pt x="0" y="0"/>
                </a:lnTo>
                <a:close/>
              </a:path>
            </a:pathLst>
          </a:custGeom>
          <a:blipFill>
            <a:blip r:embed="rId2"/>
            <a:stretch>
              <a:fillRect l="0" t="-10230" r="0" b="0"/>
            </a:stretch>
          </a:blipFill>
        </p:spPr>
      </p:sp>
      <p:sp>
        <p:nvSpPr>
          <p:cNvPr name="TextBox 3" id="3"/>
          <p:cNvSpPr txBox="true"/>
          <p:nvPr/>
        </p:nvSpPr>
        <p:spPr>
          <a:xfrm rot="0">
            <a:off x="-172913" y="445943"/>
            <a:ext cx="17432213" cy="1780540"/>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Q3: FIND PLANES CURRENTLY PARKED IN HANGAR 1 (WHERE OUT_TIME IS NULL)</a:t>
            </a:r>
          </a:p>
          <a:p>
            <a:pPr algn="ctr">
              <a:lnSpc>
                <a:spcPts val="4759"/>
              </a:lnSpc>
              <a:spcBef>
                <a:spcPct val="0"/>
              </a:spcBef>
            </a:pPr>
          </a:p>
        </p:txBody>
      </p:sp>
      <p:sp>
        <p:nvSpPr>
          <p:cNvPr name="TextBox 4" id="4"/>
          <p:cNvSpPr txBox="true"/>
          <p:nvPr/>
        </p:nvSpPr>
        <p:spPr>
          <a:xfrm rot="0">
            <a:off x="764740" y="1872255"/>
            <a:ext cx="10625376" cy="2380615"/>
          </a:xfrm>
          <a:prstGeom prst="rect">
            <a:avLst/>
          </a:prstGeom>
        </p:spPr>
        <p:txBody>
          <a:bodyPr anchor="t" rtlCol="false" tIns="0" lIns="0" bIns="0" rIns="0">
            <a:spAutoFit/>
          </a:bodyPr>
          <a:lstStyle/>
          <a:p>
            <a:pPr algn="ctr">
              <a:lnSpc>
                <a:spcPts val="4759"/>
              </a:lnSpc>
            </a:pPr>
            <a:r>
              <a:rPr lang="en-US" sz="3399">
                <a:solidFill>
                  <a:srgbClr val="FFDE59"/>
                </a:solidFill>
                <a:latin typeface="Libre Baskerville"/>
                <a:ea typeface="Libre Baskerville"/>
                <a:cs typeface="Libre Baskerville"/>
                <a:sym typeface="Libre Baskerville"/>
              </a:rPr>
              <a:t>SELECT plane_reg_no, in_time </a:t>
            </a:r>
          </a:p>
          <a:p>
            <a:pPr algn="ctr">
              <a:lnSpc>
                <a:spcPts val="4759"/>
              </a:lnSpc>
            </a:pPr>
            <a:r>
              <a:rPr lang="en-US" sz="3399">
                <a:solidFill>
                  <a:srgbClr val="FFDE59"/>
                </a:solidFill>
                <a:latin typeface="Libre Baskerville"/>
                <a:ea typeface="Libre Baskerville"/>
                <a:cs typeface="Libre Baskerville"/>
                <a:sym typeface="Libre Baskerville"/>
              </a:rPr>
              <a:t>FROM HangarLogs </a:t>
            </a:r>
          </a:p>
          <a:p>
            <a:pPr algn="ctr">
              <a:lnSpc>
                <a:spcPts val="4759"/>
              </a:lnSpc>
            </a:pPr>
            <a:r>
              <a:rPr lang="en-US" sz="3399">
                <a:solidFill>
                  <a:srgbClr val="FFDE59"/>
                </a:solidFill>
                <a:latin typeface="Libre Baskerville"/>
                <a:ea typeface="Libre Baskerville"/>
                <a:cs typeface="Libre Baskerville"/>
                <a:sym typeface="Libre Baskerville"/>
              </a:rPr>
              <a:t>WHERE hangar_id = 1 AND out_time IS NULL;</a:t>
            </a:r>
          </a:p>
          <a:p>
            <a:pPr algn="ctr">
              <a:lnSpc>
                <a:spcPts val="4759"/>
              </a:lnSpc>
            </a:pPr>
            <a:r>
              <a:rPr lang="en-US" sz="3399">
                <a:solidFill>
                  <a:srgbClr val="FFDE59"/>
                </a:solidFill>
                <a:latin typeface="Libre Baskerville"/>
                <a:ea typeface="Libre Baskerville"/>
                <a:cs typeface="Libre Baskerville"/>
                <a:sym typeface="Libre Baskerville"/>
              </a:rPr>
              <a:t>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4978539" y="4037832"/>
            <a:ext cx="8519927" cy="3930417"/>
          </a:xfrm>
          <a:custGeom>
            <a:avLst/>
            <a:gdLst/>
            <a:ahLst/>
            <a:cxnLst/>
            <a:rect r="r" b="b" t="t" l="l"/>
            <a:pathLst>
              <a:path h="3930417" w="8519927">
                <a:moveTo>
                  <a:pt x="0" y="0"/>
                </a:moveTo>
                <a:lnTo>
                  <a:pt x="8519928" y="0"/>
                </a:lnTo>
                <a:lnTo>
                  <a:pt x="8519928" y="3930417"/>
                </a:lnTo>
                <a:lnTo>
                  <a:pt x="0" y="3930417"/>
                </a:lnTo>
                <a:lnTo>
                  <a:pt x="0" y="0"/>
                </a:lnTo>
                <a:close/>
              </a:path>
            </a:pathLst>
          </a:custGeom>
          <a:blipFill>
            <a:blip r:embed="rId2"/>
            <a:stretch>
              <a:fillRect l="0" t="-5628" r="0" b="-1125"/>
            </a:stretch>
          </a:blipFill>
        </p:spPr>
      </p:sp>
      <p:sp>
        <p:nvSpPr>
          <p:cNvPr name="TextBox 3" id="3"/>
          <p:cNvSpPr txBox="true"/>
          <p:nvPr/>
        </p:nvSpPr>
        <p:spPr>
          <a:xfrm rot="0">
            <a:off x="1172647" y="405130"/>
            <a:ext cx="14836735" cy="118046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Q4: LIST PLANE MODELS WITH CAPACITY OVER 200 SEATS</a:t>
            </a:r>
          </a:p>
          <a:p>
            <a:pPr algn="ctr">
              <a:lnSpc>
                <a:spcPts val="4759"/>
              </a:lnSpc>
              <a:spcBef>
                <a:spcPct val="0"/>
              </a:spcBef>
            </a:pPr>
          </a:p>
        </p:txBody>
      </p:sp>
      <p:sp>
        <p:nvSpPr>
          <p:cNvPr name="TextBox 4" id="4"/>
          <p:cNvSpPr txBox="true"/>
          <p:nvPr/>
        </p:nvSpPr>
        <p:spPr>
          <a:xfrm rot="0">
            <a:off x="1366064" y="1182871"/>
            <a:ext cx="7224951" cy="2380615"/>
          </a:xfrm>
          <a:prstGeom prst="rect">
            <a:avLst/>
          </a:prstGeom>
        </p:spPr>
        <p:txBody>
          <a:bodyPr anchor="t" rtlCol="false" tIns="0" lIns="0" bIns="0" rIns="0">
            <a:spAutoFit/>
          </a:bodyPr>
          <a:lstStyle/>
          <a:p>
            <a:pPr algn="ctr">
              <a:lnSpc>
                <a:spcPts val="4759"/>
              </a:lnSpc>
            </a:pPr>
            <a:r>
              <a:rPr lang="en-US" sz="3399">
                <a:solidFill>
                  <a:srgbClr val="FFDE59"/>
                </a:solidFill>
                <a:latin typeface="Libre Baskerville"/>
                <a:ea typeface="Libre Baskerville"/>
                <a:cs typeface="Libre Baskerville"/>
                <a:sym typeface="Libre Baskerville"/>
              </a:rPr>
              <a:t>SELECT manufacturer, capacity </a:t>
            </a:r>
          </a:p>
          <a:p>
            <a:pPr algn="ctr">
              <a:lnSpc>
                <a:spcPts val="4759"/>
              </a:lnSpc>
            </a:pPr>
            <a:r>
              <a:rPr lang="en-US" sz="3399">
                <a:solidFill>
                  <a:srgbClr val="FFDE59"/>
                </a:solidFill>
                <a:latin typeface="Libre Baskerville"/>
                <a:ea typeface="Libre Baskerville"/>
                <a:cs typeface="Libre Baskerville"/>
                <a:sym typeface="Libre Baskerville"/>
              </a:rPr>
              <a:t>FROM PlaneModels </a:t>
            </a:r>
          </a:p>
          <a:p>
            <a:pPr algn="ctr">
              <a:lnSpc>
                <a:spcPts val="4759"/>
              </a:lnSpc>
            </a:pPr>
            <a:r>
              <a:rPr lang="en-US" sz="3399">
                <a:solidFill>
                  <a:srgbClr val="FFDE59"/>
                </a:solidFill>
                <a:latin typeface="Libre Baskerville"/>
                <a:ea typeface="Libre Baskerville"/>
                <a:cs typeface="Libre Baskerville"/>
                <a:sym typeface="Libre Baskerville"/>
              </a:rPr>
              <a:t>WHERE capacity &gt; 200;</a:t>
            </a:r>
          </a:p>
          <a:p>
            <a:pPr algn="ctr">
              <a:lnSpc>
                <a:spcPts val="475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6625259" y="4708865"/>
            <a:ext cx="4407653" cy="3326791"/>
          </a:xfrm>
          <a:custGeom>
            <a:avLst/>
            <a:gdLst/>
            <a:ahLst/>
            <a:cxnLst/>
            <a:rect r="r" b="b" t="t" l="l"/>
            <a:pathLst>
              <a:path h="3326791" w="4407653">
                <a:moveTo>
                  <a:pt x="0" y="0"/>
                </a:moveTo>
                <a:lnTo>
                  <a:pt x="4407653" y="0"/>
                </a:lnTo>
                <a:lnTo>
                  <a:pt x="4407653" y="3326791"/>
                </a:lnTo>
                <a:lnTo>
                  <a:pt x="0" y="3326791"/>
                </a:lnTo>
                <a:lnTo>
                  <a:pt x="0" y="0"/>
                </a:lnTo>
                <a:close/>
              </a:path>
            </a:pathLst>
          </a:custGeom>
          <a:blipFill>
            <a:blip r:embed="rId2"/>
            <a:stretch>
              <a:fillRect l="0" t="-7860" r="0" b="0"/>
            </a:stretch>
          </a:blipFill>
        </p:spPr>
      </p:sp>
      <p:sp>
        <p:nvSpPr>
          <p:cNvPr name="TextBox 3" id="3"/>
          <p:cNvSpPr txBox="true"/>
          <p:nvPr/>
        </p:nvSpPr>
        <p:spPr>
          <a:xfrm rot="0">
            <a:off x="1612245" y="405130"/>
            <a:ext cx="14065091" cy="118046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Q5: FIND ALL EXPERTS CERTIFIED ON THE 'BOEING 737'</a:t>
            </a:r>
          </a:p>
          <a:p>
            <a:pPr algn="ctr">
              <a:lnSpc>
                <a:spcPts val="4759"/>
              </a:lnSpc>
              <a:spcBef>
                <a:spcPct val="0"/>
              </a:spcBef>
            </a:pPr>
            <a:r>
              <a:rPr lang="en-US" sz="3399">
                <a:solidFill>
                  <a:srgbClr val="FFFFFF"/>
                </a:solidFill>
                <a:latin typeface="Libre Baskerville"/>
                <a:ea typeface="Libre Baskerville"/>
                <a:cs typeface="Libre Baskerville"/>
                <a:sym typeface="Libre Baskerville"/>
              </a:rPr>
              <a:t> </a:t>
            </a:r>
          </a:p>
        </p:txBody>
      </p:sp>
      <p:sp>
        <p:nvSpPr>
          <p:cNvPr name="TextBox 4" id="4"/>
          <p:cNvSpPr txBox="true"/>
          <p:nvPr/>
        </p:nvSpPr>
        <p:spPr>
          <a:xfrm rot="0">
            <a:off x="1185498" y="1230414"/>
            <a:ext cx="8262461" cy="2980690"/>
          </a:xfrm>
          <a:prstGeom prst="rect">
            <a:avLst/>
          </a:prstGeom>
        </p:spPr>
        <p:txBody>
          <a:bodyPr anchor="t" rtlCol="false" tIns="0" lIns="0" bIns="0" rIns="0">
            <a:spAutoFit/>
          </a:bodyPr>
          <a:lstStyle/>
          <a:p>
            <a:pPr algn="ctr">
              <a:lnSpc>
                <a:spcPts val="4759"/>
              </a:lnSpc>
            </a:pPr>
            <a:r>
              <a:rPr lang="en-US" sz="3399">
                <a:solidFill>
                  <a:srgbClr val="FFDE59"/>
                </a:solidFill>
                <a:latin typeface="Libre Baskerville"/>
                <a:ea typeface="Libre Baskerville"/>
                <a:cs typeface="Libre Baskerville"/>
                <a:sym typeface="Libre Baskerville"/>
              </a:rPr>
              <a:t>SELECT E.full_name </a:t>
            </a:r>
          </a:p>
          <a:p>
            <a:pPr algn="ctr">
              <a:lnSpc>
                <a:spcPts val="4759"/>
              </a:lnSpc>
            </a:pPr>
            <a:r>
              <a:rPr lang="en-US" sz="3399">
                <a:solidFill>
                  <a:srgbClr val="FFDE59"/>
                </a:solidFill>
                <a:latin typeface="Libre Baskerville"/>
                <a:ea typeface="Libre Baskerville"/>
                <a:cs typeface="Libre Baskerville"/>
                <a:sym typeface="Libre Baskerville"/>
              </a:rPr>
              <a:t>FROM Employees E</a:t>
            </a:r>
          </a:p>
          <a:p>
            <a:pPr algn="ctr">
              <a:lnSpc>
                <a:spcPts val="4759"/>
              </a:lnSpc>
            </a:pPr>
            <a:r>
              <a:rPr lang="en-US" sz="3399">
                <a:solidFill>
                  <a:srgbClr val="FFDE59"/>
                </a:solidFill>
                <a:latin typeface="Libre Baskerville"/>
                <a:ea typeface="Libre Baskerville"/>
                <a:cs typeface="Libre Baskerville"/>
                <a:sym typeface="Libre Baskerville"/>
              </a:rPr>
              <a:t>JOIN Expertise EX ON E.ssn = EX.ssn</a:t>
            </a:r>
          </a:p>
          <a:p>
            <a:pPr algn="ctr">
              <a:lnSpc>
                <a:spcPts val="4759"/>
              </a:lnSpc>
            </a:pPr>
            <a:r>
              <a:rPr lang="en-US" sz="3399">
                <a:solidFill>
                  <a:srgbClr val="FFDE59"/>
                </a:solidFill>
                <a:latin typeface="Libre Baskerville"/>
                <a:ea typeface="Libre Baskerville"/>
                <a:cs typeface="Libre Baskerville"/>
                <a:sym typeface="Libre Baskerville"/>
              </a:rPr>
              <a:t>WHERE EX.model_id = 737;</a:t>
            </a:r>
          </a:p>
          <a:p>
            <a:pPr algn="ctr">
              <a:lnSpc>
                <a:spcPts val="475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4475288" y="4905781"/>
            <a:ext cx="9027288" cy="3049057"/>
          </a:xfrm>
          <a:custGeom>
            <a:avLst/>
            <a:gdLst/>
            <a:ahLst/>
            <a:cxnLst/>
            <a:rect r="r" b="b" t="t" l="l"/>
            <a:pathLst>
              <a:path h="3049057" w="9027288">
                <a:moveTo>
                  <a:pt x="0" y="0"/>
                </a:moveTo>
                <a:lnTo>
                  <a:pt x="9027288" y="0"/>
                </a:lnTo>
                <a:lnTo>
                  <a:pt x="9027288" y="3049057"/>
                </a:lnTo>
                <a:lnTo>
                  <a:pt x="0" y="3049057"/>
                </a:lnTo>
                <a:lnTo>
                  <a:pt x="0" y="0"/>
                </a:lnTo>
                <a:close/>
              </a:path>
            </a:pathLst>
          </a:custGeom>
          <a:blipFill>
            <a:blip r:embed="rId2"/>
            <a:stretch>
              <a:fillRect l="0" t="-11025" r="0" b="0"/>
            </a:stretch>
          </a:blipFill>
        </p:spPr>
      </p:sp>
      <p:sp>
        <p:nvSpPr>
          <p:cNvPr name="TextBox 3" id="3"/>
          <p:cNvSpPr txBox="true"/>
          <p:nvPr/>
        </p:nvSpPr>
        <p:spPr>
          <a:xfrm rot="0">
            <a:off x="2329644" y="160680"/>
            <a:ext cx="10253107" cy="118046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Q6: SHOW MAINTENANCE HISTOR</a:t>
            </a:r>
            <a:r>
              <a:rPr lang="en-US" sz="3399">
                <a:solidFill>
                  <a:srgbClr val="FFFFFF"/>
                </a:solidFill>
                <a:latin typeface="Libre Baskerville"/>
                <a:ea typeface="Libre Baskerville"/>
                <a:cs typeface="Libre Baskerville"/>
                <a:sym typeface="Libre Baskerville"/>
              </a:rPr>
              <a:t>Y FOR A SPECIFIC PLANE (TC-ERC01)</a:t>
            </a:r>
          </a:p>
        </p:txBody>
      </p:sp>
      <p:sp>
        <p:nvSpPr>
          <p:cNvPr name="TextBox 4" id="4"/>
          <p:cNvSpPr txBox="true"/>
          <p:nvPr/>
        </p:nvSpPr>
        <p:spPr>
          <a:xfrm rot="0">
            <a:off x="220214" y="962660"/>
            <a:ext cx="11334079" cy="4180840"/>
          </a:xfrm>
          <a:prstGeom prst="rect">
            <a:avLst/>
          </a:prstGeom>
        </p:spPr>
        <p:txBody>
          <a:bodyPr anchor="t" rtlCol="false" tIns="0" lIns="0" bIns="0" rIns="0">
            <a:spAutoFit/>
          </a:bodyPr>
          <a:lstStyle/>
          <a:p>
            <a:pPr algn="ctr">
              <a:lnSpc>
                <a:spcPts val="4759"/>
              </a:lnSpc>
            </a:pPr>
          </a:p>
          <a:p>
            <a:pPr algn="ctr">
              <a:lnSpc>
                <a:spcPts val="4759"/>
              </a:lnSpc>
            </a:pPr>
            <a:r>
              <a:rPr lang="en-US" sz="3399">
                <a:solidFill>
                  <a:srgbClr val="FFDE59"/>
                </a:solidFill>
                <a:latin typeface="Libre Baskerville"/>
                <a:ea typeface="Libre Baskerville"/>
                <a:cs typeface="Libre Baskerville"/>
                <a:sym typeface="Libre Baskerville"/>
              </a:rPr>
              <a:t>SELECT T.test_name, TR.test_date, TR.score </a:t>
            </a:r>
          </a:p>
          <a:p>
            <a:pPr algn="ctr">
              <a:lnSpc>
                <a:spcPts val="4759"/>
              </a:lnSpc>
            </a:pPr>
            <a:r>
              <a:rPr lang="en-US" sz="3399">
                <a:solidFill>
                  <a:srgbClr val="FFDE59"/>
                </a:solidFill>
                <a:latin typeface="Libre Baskerville"/>
                <a:ea typeface="Libre Baskerville"/>
                <a:cs typeface="Libre Baskerville"/>
                <a:sym typeface="Libre Baskerville"/>
              </a:rPr>
              <a:t>FROM TestRecords TR</a:t>
            </a:r>
          </a:p>
          <a:p>
            <a:pPr algn="ctr">
              <a:lnSpc>
                <a:spcPts val="4759"/>
              </a:lnSpc>
            </a:pPr>
            <a:r>
              <a:rPr lang="en-US" sz="3399">
                <a:solidFill>
                  <a:srgbClr val="FFDE59"/>
                </a:solidFill>
                <a:latin typeface="Libre Baskerville"/>
                <a:ea typeface="Libre Baskerville"/>
                <a:cs typeface="Libre Baskerville"/>
                <a:sym typeface="Libre Baskerville"/>
              </a:rPr>
              <a:t>JOIN TestTypes T ON TR.test_id = T.test_id</a:t>
            </a:r>
          </a:p>
          <a:p>
            <a:pPr algn="ctr">
              <a:lnSpc>
                <a:spcPts val="4759"/>
              </a:lnSpc>
            </a:pPr>
            <a:r>
              <a:rPr lang="en-US" sz="3399">
                <a:solidFill>
                  <a:srgbClr val="FFDE59"/>
                </a:solidFill>
                <a:latin typeface="Libre Baskerville"/>
                <a:ea typeface="Libre Baskerville"/>
                <a:cs typeface="Libre Baskerville"/>
                <a:sym typeface="Libre Baskerville"/>
              </a:rPr>
              <a:t>WHERE TR.plane_reg_no = 'TC-ERC01';</a:t>
            </a:r>
          </a:p>
          <a:p>
            <a:pPr algn="ctr">
              <a:lnSpc>
                <a:spcPts val="4759"/>
              </a:lnSpc>
            </a:pPr>
          </a:p>
          <a:p>
            <a:pPr algn="ctr">
              <a:lnSpc>
                <a:spcPts val="475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5552024" y="5143500"/>
            <a:ext cx="7915776" cy="3496368"/>
          </a:xfrm>
          <a:custGeom>
            <a:avLst/>
            <a:gdLst/>
            <a:ahLst/>
            <a:cxnLst/>
            <a:rect r="r" b="b" t="t" l="l"/>
            <a:pathLst>
              <a:path h="3496368" w="7915776">
                <a:moveTo>
                  <a:pt x="0" y="0"/>
                </a:moveTo>
                <a:lnTo>
                  <a:pt x="7915776" y="0"/>
                </a:lnTo>
                <a:lnTo>
                  <a:pt x="7915776" y="3496368"/>
                </a:lnTo>
                <a:lnTo>
                  <a:pt x="0" y="3496368"/>
                </a:lnTo>
                <a:lnTo>
                  <a:pt x="0" y="0"/>
                </a:lnTo>
                <a:close/>
              </a:path>
            </a:pathLst>
          </a:custGeom>
          <a:blipFill>
            <a:blip r:embed="rId2"/>
            <a:stretch>
              <a:fillRect l="0" t="0" r="0" b="0"/>
            </a:stretch>
          </a:blipFill>
        </p:spPr>
      </p:sp>
      <p:sp>
        <p:nvSpPr>
          <p:cNvPr name="TextBox 3" id="3"/>
          <p:cNvSpPr txBox="true"/>
          <p:nvPr/>
        </p:nvSpPr>
        <p:spPr>
          <a:xfrm rot="0">
            <a:off x="0" y="405130"/>
            <a:ext cx="18288000" cy="118046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Q7: COUNT HOW MAN</a:t>
            </a:r>
            <a:r>
              <a:rPr lang="en-US" sz="3399">
                <a:solidFill>
                  <a:srgbClr val="FFFFFF"/>
                </a:solidFill>
                <a:latin typeface="Libre Baskerville"/>
                <a:ea typeface="Libre Baskerville"/>
                <a:cs typeface="Libre Baskerville"/>
                <a:sym typeface="Libre Baskerville"/>
              </a:rPr>
              <a:t>Y PLANES EACH HANGAR IS CURRENTLY HOLDING</a:t>
            </a:r>
          </a:p>
        </p:txBody>
      </p:sp>
      <p:sp>
        <p:nvSpPr>
          <p:cNvPr name="TextBox 4" id="4"/>
          <p:cNvSpPr txBox="true"/>
          <p:nvPr/>
        </p:nvSpPr>
        <p:spPr>
          <a:xfrm rot="0">
            <a:off x="172670" y="1138570"/>
            <a:ext cx="9337242" cy="4180840"/>
          </a:xfrm>
          <a:prstGeom prst="rect">
            <a:avLst/>
          </a:prstGeom>
        </p:spPr>
        <p:txBody>
          <a:bodyPr anchor="t" rtlCol="false" tIns="0" lIns="0" bIns="0" rIns="0">
            <a:spAutoFit/>
          </a:bodyPr>
          <a:lstStyle/>
          <a:p>
            <a:pPr algn="ctr">
              <a:lnSpc>
                <a:spcPts val="4759"/>
              </a:lnSpc>
            </a:pPr>
          </a:p>
          <a:p>
            <a:pPr algn="ctr">
              <a:lnSpc>
                <a:spcPts val="4759"/>
              </a:lnSpc>
            </a:pPr>
            <a:r>
              <a:rPr lang="en-US" sz="3399">
                <a:solidFill>
                  <a:srgbClr val="FFDE59"/>
                </a:solidFill>
                <a:latin typeface="Libre Baskerville"/>
                <a:ea typeface="Libre Baskerville"/>
                <a:cs typeface="Libre Baskerville"/>
                <a:sym typeface="Libre Baskerville"/>
              </a:rPr>
              <a:t>SELECT hangar_id, COUNT(*) AS planes_inside </a:t>
            </a:r>
          </a:p>
          <a:p>
            <a:pPr algn="ctr">
              <a:lnSpc>
                <a:spcPts val="4759"/>
              </a:lnSpc>
            </a:pPr>
            <a:r>
              <a:rPr lang="en-US" sz="3399">
                <a:solidFill>
                  <a:srgbClr val="FFDE59"/>
                </a:solidFill>
                <a:latin typeface="Libre Baskerville"/>
                <a:ea typeface="Libre Baskerville"/>
                <a:cs typeface="Libre Baskerville"/>
                <a:sym typeface="Libre Baskerville"/>
              </a:rPr>
              <a:t>FROM HangarLogs </a:t>
            </a:r>
          </a:p>
          <a:p>
            <a:pPr algn="ctr">
              <a:lnSpc>
                <a:spcPts val="4759"/>
              </a:lnSpc>
            </a:pPr>
            <a:r>
              <a:rPr lang="en-US" sz="3399">
                <a:solidFill>
                  <a:srgbClr val="FFDE59"/>
                </a:solidFill>
                <a:latin typeface="Libre Baskerville"/>
                <a:ea typeface="Libre Baskerville"/>
                <a:cs typeface="Libre Baskerville"/>
                <a:sym typeface="Libre Baskerville"/>
              </a:rPr>
              <a:t>WHERE out_time IS NULL </a:t>
            </a:r>
          </a:p>
          <a:p>
            <a:pPr algn="ctr">
              <a:lnSpc>
                <a:spcPts val="4759"/>
              </a:lnSpc>
            </a:pPr>
            <a:r>
              <a:rPr lang="en-US" sz="3399">
                <a:solidFill>
                  <a:srgbClr val="FFDE59"/>
                </a:solidFill>
                <a:latin typeface="Libre Baskerville"/>
                <a:ea typeface="Libre Baskerville"/>
                <a:cs typeface="Libre Baskerville"/>
                <a:sym typeface="Libre Baskerville"/>
              </a:rPr>
              <a:t>GROUP BY hangar_id;</a:t>
            </a:r>
          </a:p>
          <a:p>
            <a:pPr algn="ctr">
              <a:lnSpc>
                <a:spcPts val="475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5196981" y="4579923"/>
            <a:ext cx="7894038" cy="3736932"/>
          </a:xfrm>
          <a:custGeom>
            <a:avLst/>
            <a:gdLst/>
            <a:ahLst/>
            <a:cxnLst/>
            <a:rect r="r" b="b" t="t" l="l"/>
            <a:pathLst>
              <a:path h="3736932" w="7894038">
                <a:moveTo>
                  <a:pt x="0" y="0"/>
                </a:moveTo>
                <a:lnTo>
                  <a:pt x="7894038" y="0"/>
                </a:lnTo>
                <a:lnTo>
                  <a:pt x="7894038" y="3736932"/>
                </a:lnTo>
                <a:lnTo>
                  <a:pt x="0" y="3736932"/>
                </a:lnTo>
                <a:lnTo>
                  <a:pt x="0" y="0"/>
                </a:lnTo>
                <a:close/>
              </a:path>
            </a:pathLst>
          </a:custGeom>
          <a:blipFill>
            <a:blip r:embed="rId2"/>
            <a:stretch>
              <a:fillRect l="0" t="-10178" r="0" b="0"/>
            </a:stretch>
          </a:blipFill>
        </p:spPr>
      </p:sp>
      <p:sp>
        <p:nvSpPr>
          <p:cNvPr name="TextBox 3" id="3"/>
          <p:cNvSpPr txBox="true"/>
          <p:nvPr/>
        </p:nvSpPr>
        <p:spPr>
          <a:xfrm rot="0">
            <a:off x="1684734" y="705167"/>
            <a:ext cx="15574566" cy="580390"/>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Q8: FIND THE AVERAGE SALAR</a:t>
            </a:r>
            <a:r>
              <a:rPr lang="en-US" sz="3399">
                <a:solidFill>
                  <a:srgbClr val="FFFFFF"/>
                </a:solidFill>
                <a:latin typeface="Libre Baskerville"/>
                <a:ea typeface="Libre Baskerville"/>
                <a:cs typeface="Libre Baskerville"/>
                <a:sym typeface="Libre Baskerville"/>
              </a:rPr>
              <a:t>Y OF ALL AIRPORT EMPLOYEES</a:t>
            </a:r>
          </a:p>
        </p:txBody>
      </p:sp>
      <p:sp>
        <p:nvSpPr>
          <p:cNvPr name="TextBox 4" id="4"/>
          <p:cNvSpPr txBox="true"/>
          <p:nvPr/>
        </p:nvSpPr>
        <p:spPr>
          <a:xfrm rot="0">
            <a:off x="766967" y="1218883"/>
            <a:ext cx="6261337" cy="2980690"/>
          </a:xfrm>
          <a:prstGeom prst="rect">
            <a:avLst/>
          </a:prstGeom>
        </p:spPr>
        <p:txBody>
          <a:bodyPr anchor="t" rtlCol="false" tIns="0" lIns="0" bIns="0" rIns="0">
            <a:spAutoFit/>
          </a:bodyPr>
          <a:lstStyle/>
          <a:p>
            <a:pPr algn="ctr">
              <a:lnSpc>
                <a:spcPts val="4759"/>
              </a:lnSpc>
            </a:pPr>
          </a:p>
          <a:p>
            <a:pPr algn="ctr">
              <a:lnSpc>
                <a:spcPts val="4759"/>
              </a:lnSpc>
            </a:pPr>
            <a:r>
              <a:rPr lang="en-US" sz="3399">
                <a:solidFill>
                  <a:srgbClr val="FFDE59"/>
                </a:solidFill>
                <a:latin typeface="Libre Baskerville"/>
                <a:ea typeface="Libre Baskerville"/>
                <a:cs typeface="Libre Baskerville"/>
                <a:sym typeface="Libre Baskerville"/>
              </a:rPr>
              <a:t>SELECT AVG(salary) AS average_airport_salary FROM Employees;</a:t>
            </a:r>
          </a:p>
          <a:p>
            <a:pPr algn="ctr">
              <a:lnSpc>
                <a:spcPts val="475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6826293" y="4707908"/>
            <a:ext cx="4635415" cy="3621853"/>
          </a:xfrm>
          <a:custGeom>
            <a:avLst/>
            <a:gdLst/>
            <a:ahLst/>
            <a:cxnLst/>
            <a:rect r="r" b="b" t="t" l="l"/>
            <a:pathLst>
              <a:path h="3621853" w="4635415">
                <a:moveTo>
                  <a:pt x="0" y="0"/>
                </a:moveTo>
                <a:lnTo>
                  <a:pt x="4635414" y="0"/>
                </a:lnTo>
                <a:lnTo>
                  <a:pt x="4635414" y="3621852"/>
                </a:lnTo>
                <a:lnTo>
                  <a:pt x="0" y="3621852"/>
                </a:lnTo>
                <a:lnTo>
                  <a:pt x="0" y="0"/>
                </a:lnTo>
                <a:close/>
              </a:path>
            </a:pathLst>
          </a:custGeom>
          <a:blipFill>
            <a:blip r:embed="rId2"/>
            <a:stretch>
              <a:fillRect l="0" t="-13586" r="0" b="0"/>
            </a:stretch>
          </a:blipFill>
        </p:spPr>
      </p:sp>
      <p:sp>
        <p:nvSpPr>
          <p:cNvPr name="TextBox 3" id="3"/>
          <p:cNvSpPr txBox="true"/>
          <p:nvPr/>
        </p:nvSpPr>
        <p:spPr>
          <a:xfrm rot="0">
            <a:off x="0" y="405130"/>
            <a:ext cx="18288000" cy="118046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Q9: LIST PLANES THAT HAVE NEVER HAD A SAFET</a:t>
            </a:r>
            <a:r>
              <a:rPr lang="en-US" sz="3399">
                <a:solidFill>
                  <a:srgbClr val="FFFFFF"/>
                </a:solidFill>
                <a:latin typeface="Libre Baskerville"/>
                <a:ea typeface="Libre Baskerville"/>
                <a:cs typeface="Libre Baskerville"/>
                <a:sym typeface="Libre Baskerville"/>
              </a:rPr>
              <a:t>Y TEST (CRITICAL FOR SAFETY)</a:t>
            </a:r>
          </a:p>
        </p:txBody>
      </p:sp>
      <p:sp>
        <p:nvSpPr>
          <p:cNvPr name="TextBox 4" id="4"/>
          <p:cNvSpPr txBox="true"/>
          <p:nvPr/>
        </p:nvSpPr>
        <p:spPr>
          <a:xfrm rot="0">
            <a:off x="0" y="962025"/>
            <a:ext cx="8291279" cy="4180840"/>
          </a:xfrm>
          <a:prstGeom prst="rect">
            <a:avLst/>
          </a:prstGeom>
        </p:spPr>
        <p:txBody>
          <a:bodyPr anchor="t" rtlCol="false" tIns="0" lIns="0" bIns="0" rIns="0">
            <a:spAutoFit/>
          </a:bodyPr>
          <a:lstStyle/>
          <a:p>
            <a:pPr algn="ctr">
              <a:lnSpc>
                <a:spcPts val="4759"/>
              </a:lnSpc>
            </a:pPr>
          </a:p>
          <a:p>
            <a:pPr algn="ctr">
              <a:lnSpc>
                <a:spcPts val="4759"/>
              </a:lnSpc>
            </a:pPr>
            <a:r>
              <a:rPr lang="en-US" sz="3399">
                <a:solidFill>
                  <a:srgbClr val="FFDE59"/>
                </a:solidFill>
                <a:latin typeface="Libre Baskerville"/>
                <a:ea typeface="Libre Baskerville"/>
                <a:cs typeface="Libre Baskerville"/>
                <a:sym typeface="Libre Baskerville"/>
              </a:rPr>
              <a:t>SELECT plane_reg_no </a:t>
            </a:r>
          </a:p>
          <a:p>
            <a:pPr algn="ctr">
              <a:lnSpc>
                <a:spcPts val="4759"/>
              </a:lnSpc>
            </a:pPr>
            <a:r>
              <a:rPr lang="en-US" sz="3399">
                <a:solidFill>
                  <a:srgbClr val="FFDE59"/>
                </a:solidFill>
                <a:latin typeface="Libre Baskerville"/>
                <a:ea typeface="Libre Baskerville"/>
                <a:cs typeface="Libre Baskerville"/>
                <a:sym typeface="Libre Baskerville"/>
              </a:rPr>
              <a:t>FROM Airplanes </a:t>
            </a:r>
          </a:p>
          <a:p>
            <a:pPr algn="ctr">
              <a:lnSpc>
                <a:spcPts val="4759"/>
              </a:lnSpc>
            </a:pPr>
            <a:r>
              <a:rPr lang="en-US" sz="3399">
                <a:solidFill>
                  <a:srgbClr val="FFDE59"/>
                </a:solidFill>
                <a:latin typeface="Libre Baskerville"/>
                <a:ea typeface="Libre Baskerville"/>
                <a:cs typeface="Libre Baskerville"/>
                <a:sym typeface="Libre Baskerville"/>
              </a:rPr>
              <a:t>WHERE plane_reg_no NOT IN (SELECT plane_reg_no FROM TestRecords);</a:t>
            </a:r>
          </a:p>
          <a:p>
            <a:pPr algn="ctr">
              <a:lnSpc>
                <a:spcPts val="475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5375619" y="5143500"/>
            <a:ext cx="7845622" cy="3062519"/>
          </a:xfrm>
          <a:custGeom>
            <a:avLst/>
            <a:gdLst/>
            <a:ahLst/>
            <a:cxnLst/>
            <a:rect r="r" b="b" t="t" l="l"/>
            <a:pathLst>
              <a:path h="3062519" w="7845622">
                <a:moveTo>
                  <a:pt x="0" y="0"/>
                </a:moveTo>
                <a:lnTo>
                  <a:pt x="7845623" y="0"/>
                </a:lnTo>
                <a:lnTo>
                  <a:pt x="7845623" y="3062519"/>
                </a:lnTo>
                <a:lnTo>
                  <a:pt x="0" y="3062519"/>
                </a:lnTo>
                <a:lnTo>
                  <a:pt x="0" y="0"/>
                </a:lnTo>
                <a:close/>
              </a:path>
            </a:pathLst>
          </a:custGeom>
          <a:blipFill>
            <a:blip r:embed="rId2"/>
            <a:stretch>
              <a:fillRect l="0" t="-7161" r="0" b="0"/>
            </a:stretch>
          </a:blipFill>
        </p:spPr>
      </p:sp>
      <p:sp>
        <p:nvSpPr>
          <p:cNvPr name="TextBox 3" id="3"/>
          <p:cNvSpPr txBox="true"/>
          <p:nvPr/>
        </p:nvSpPr>
        <p:spPr>
          <a:xfrm rot="0">
            <a:off x="0" y="405130"/>
            <a:ext cx="18288000" cy="118046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Q10: FIND</a:t>
            </a:r>
            <a:r>
              <a:rPr lang="en-US" sz="3399">
                <a:solidFill>
                  <a:srgbClr val="FFFFFF"/>
                </a:solidFill>
                <a:latin typeface="Libre Baskerville"/>
                <a:ea typeface="Libre Baskerville"/>
                <a:cs typeface="Libre Baskerville"/>
                <a:sym typeface="Libre Baskerville"/>
              </a:rPr>
              <a:t> TRAFFIC CONTROLLERS WHO HAVEN'T HAD AN EXAM SINCE 2025</a:t>
            </a:r>
          </a:p>
        </p:txBody>
      </p:sp>
      <p:sp>
        <p:nvSpPr>
          <p:cNvPr name="TextBox 4" id="4"/>
          <p:cNvSpPr txBox="true"/>
          <p:nvPr/>
        </p:nvSpPr>
        <p:spPr>
          <a:xfrm rot="0">
            <a:off x="1028700" y="1299786"/>
            <a:ext cx="6567838" cy="3843714"/>
          </a:xfrm>
          <a:prstGeom prst="rect">
            <a:avLst/>
          </a:prstGeom>
        </p:spPr>
        <p:txBody>
          <a:bodyPr anchor="t" rtlCol="false" tIns="0" lIns="0" bIns="0" rIns="0">
            <a:spAutoFit/>
          </a:bodyPr>
          <a:lstStyle/>
          <a:p>
            <a:pPr algn="ctr">
              <a:lnSpc>
                <a:spcPts val="3400"/>
              </a:lnSpc>
            </a:pPr>
          </a:p>
          <a:p>
            <a:pPr algn="ctr">
              <a:lnSpc>
                <a:spcPts val="3400"/>
              </a:lnSpc>
            </a:pPr>
            <a:r>
              <a:rPr lang="en-US" sz="2428">
                <a:solidFill>
                  <a:srgbClr val="FFDE59"/>
                </a:solidFill>
                <a:latin typeface="Libre Baskerville"/>
                <a:ea typeface="Libre Baskerville"/>
                <a:cs typeface="Libre Baskerville"/>
                <a:sym typeface="Libre Baskerville"/>
              </a:rPr>
              <a:t>SELECT E.full_name, TC.last_exam_date </a:t>
            </a:r>
          </a:p>
          <a:p>
            <a:pPr algn="ctr">
              <a:lnSpc>
                <a:spcPts val="3400"/>
              </a:lnSpc>
            </a:pPr>
            <a:r>
              <a:rPr lang="en-US" sz="2428">
                <a:solidFill>
                  <a:srgbClr val="FFDE59"/>
                </a:solidFill>
                <a:latin typeface="Libre Baskerville"/>
                <a:ea typeface="Libre Baskerville"/>
                <a:cs typeface="Libre Baskerville"/>
                <a:sym typeface="Libre Baskerville"/>
              </a:rPr>
              <a:t>FROM Employees E</a:t>
            </a:r>
          </a:p>
          <a:p>
            <a:pPr algn="ctr">
              <a:lnSpc>
                <a:spcPts val="3400"/>
              </a:lnSpc>
            </a:pPr>
            <a:r>
              <a:rPr lang="en-US" sz="2428">
                <a:solidFill>
                  <a:srgbClr val="FFDE59"/>
                </a:solidFill>
                <a:latin typeface="Libre Baskerville"/>
                <a:ea typeface="Libre Baskerville"/>
                <a:cs typeface="Libre Baskerville"/>
                <a:sym typeface="Libre Baskerville"/>
              </a:rPr>
              <a:t>JOIN TrafficControllers TC ON E.ssn = TC.ssn</a:t>
            </a:r>
          </a:p>
          <a:p>
            <a:pPr algn="ctr">
              <a:lnSpc>
                <a:spcPts val="3400"/>
              </a:lnSpc>
            </a:pPr>
            <a:r>
              <a:rPr lang="en-US" sz="2428">
                <a:solidFill>
                  <a:srgbClr val="FFDE59"/>
                </a:solidFill>
                <a:latin typeface="Libre Baskerville"/>
                <a:ea typeface="Libre Baskerville"/>
                <a:cs typeface="Libre Baskerville"/>
                <a:sym typeface="Libre Baskerville"/>
              </a:rPr>
              <a:t>WHERE TC.last_exam_date &lt; '2026-01-01';</a:t>
            </a:r>
          </a:p>
          <a:p>
            <a:pPr algn="ctr">
              <a:lnSpc>
                <a:spcPts val="340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5618128" y="4693465"/>
            <a:ext cx="7169973" cy="3451626"/>
          </a:xfrm>
          <a:custGeom>
            <a:avLst/>
            <a:gdLst/>
            <a:ahLst/>
            <a:cxnLst/>
            <a:rect r="r" b="b" t="t" l="l"/>
            <a:pathLst>
              <a:path h="3451626" w="7169973">
                <a:moveTo>
                  <a:pt x="0" y="0"/>
                </a:moveTo>
                <a:lnTo>
                  <a:pt x="7169973" y="0"/>
                </a:lnTo>
                <a:lnTo>
                  <a:pt x="7169973" y="3451626"/>
                </a:lnTo>
                <a:lnTo>
                  <a:pt x="0" y="3451626"/>
                </a:lnTo>
                <a:lnTo>
                  <a:pt x="0" y="0"/>
                </a:lnTo>
                <a:close/>
              </a:path>
            </a:pathLst>
          </a:custGeom>
          <a:blipFill>
            <a:blip r:embed="rId2"/>
            <a:stretch>
              <a:fillRect l="0" t="-4560" r="0" b="0"/>
            </a:stretch>
          </a:blipFill>
        </p:spPr>
      </p:sp>
      <p:sp>
        <p:nvSpPr>
          <p:cNvPr name="TextBox 3" id="3"/>
          <p:cNvSpPr txBox="true"/>
          <p:nvPr/>
        </p:nvSpPr>
        <p:spPr>
          <a:xfrm rot="0">
            <a:off x="118229" y="255768"/>
            <a:ext cx="18169771" cy="580390"/>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Q11: CALCULATE TOTAL HOURS SPENT ON TESTS B</a:t>
            </a:r>
            <a:r>
              <a:rPr lang="en-US" sz="3399">
                <a:solidFill>
                  <a:srgbClr val="FFFFFF"/>
                </a:solidFill>
                <a:latin typeface="Libre Baskerville"/>
                <a:ea typeface="Libre Baskerville"/>
                <a:cs typeface="Libre Baskerville"/>
                <a:sym typeface="Libre Baskerville"/>
              </a:rPr>
              <a:t>Y EACH TECHNICIAN</a:t>
            </a:r>
          </a:p>
        </p:txBody>
      </p:sp>
      <p:sp>
        <p:nvSpPr>
          <p:cNvPr name="TextBox 4" id="4"/>
          <p:cNvSpPr txBox="true"/>
          <p:nvPr/>
        </p:nvSpPr>
        <p:spPr>
          <a:xfrm rot="0">
            <a:off x="-1015924" y="512625"/>
            <a:ext cx="13307145" cy="4180840"/>
          </a:xfrm>
          <a:prstGeom prst="rect">
            <a:avLst/>
          </a:prstGeom>
        </p:spPr>
        <p:txBody>
          <a:bodyPr anchor="t" rtlCol="false" tIns="0" lIns="0" bIns="0" rIns="0">
            <a:spAutoFit/>
          </a:bodyPr>
          <a:lstStyle/>
          <a:p>
            <a:pPr algn="ctr">
              <a:lnSpc>
                <a:spcPts val="4759"/>
              </a:lnSpc>
            </a:pPr>
          </a:p>
          <a:p>
            <a:pPr algn="ctr">
              <a:lnSpc>
                <a:spcPts val="4759"/>
              </a:lnSpc>
            </a:pPr>
            <a:r>
              <a:rPr lang="en-US" sz="3399">
                <a:solidFill>
                  <a:srgbClr val="FFDE59"/>
                </a:solidFill>
                <a:latin typeface="Libre Baskerville"/>
                <a:ea typeface="Libre Baskerville"/>
                <a:cs typeface="Libre Baskerville"/>
                <a:sym typeface="Libre Baskerville"/>
              </a:rPr>
              <a:t>SELECT E.full_name, SUM(TR.hours_spent) AS total_hours</a:t>
            </a:r>
          </a:p>
          <a:p>
            <a:pPr algn="ctr">
              <a:lnSpc>
                <a:spcPts val="4759"/>
              </a:lnSpc>
            </a:pPr>
            <a:r>
              <a:rPr lang="en-US" sz="3399">
                <a:solidFill>
                  <a:srgbClr val="FFDE59"/>
                </a:solidFill>
                <a:latin typeface="Libre Baskerville"/>
                <a:ea typeface="Libre Baskerville"/>
                <a:cs typeface="Libre Baskerville"/>
                <a:sym typeface="Libre Baskerville"/>
              </a:rPr>
              <a:t>FROM Employees E</a:t>
            </a:r>
          </a:p>
          <a:p>
            <a:pPr algn="ctr">
              <a:lnSpc>
                <a:spcPts val="4759"/>
              </a:lnSpc>
            </a:pPr>
            <a:r>
              <a:rPr lang="en-US" sz="3399">
                <a:solidFill>
                  <a:srgbClr val="FFDE59"/>
                </a:solidFill>
                <a:latin typeface="Libre Baskerville"/>
                <a:ea typeface="Libre Baskerville"/>
                <a:cs typeface="Libre Baskerville"/>
                <a:sym typeface="Libre Baskerville"/>
              </a:rPr>
              <a:t>JOIN TestRecords TR ON E.ssn = TR.ssn</a:t>
            </a:r>
          </a:p>
          <a:p>
            <a:pPr algn="ctr">
              <a:lnSpc>
                <a:spcPts val="4759"/>
              </a:lnSpc>
            </a:pPr>
            <a:r>
              <a:rPr lang="en-US" sz="3399">
                <a:solidFill>
                  <a:srgbClr val="FFDE59"/>
                </a:solidFill>
                <a:latin typeface="Libre Baskerville"/>
                <a:ea typeface="Libre Baskerville"/>
                <a:cs typeface="Libre Baskerville"/>
                <a:sym typeface="Libre Baskerville"/>
              </a:rPr>
              <a:t>GROUP BY E.full_name;</a:t>
            </a:r>
          </a:p>
          <a:p>
            <a:pPr algn="ctr">
              <a:lnSpc>
                <a:spcPts val="475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5203634" y="4691400"/>
            <a:ext cx="7578176" cy="3575589"/>
          </a:xfrm>
          <a:custGeom>
            <a:avLst/>
            <a:gdLst/>
            <a:ahLst/>
            <a:cxnLst/>
            <a:rect r="r" b="b" t="t" l="l"/>
            <a:pathLst>
              <a:path h="3575589" w="7578176">
                <a:moveTo>
                  <a:pt x="0" y="0"/>
                </a:moveTo>
                <a:lnTo>
                  <a:pt x="7578176" y="0"/>
                </a:lnTo>
                <a:lnTo>
                  <a:pt x="7578176" y="3575589"/>
                </a:lnTo>
                <a:lnTo>
                  <a:pt x="0" y="3575589"/>
                </a:lnTo>
                <a:lnTo>
                  <a:pt x="0" y="0"/>
                </a:lnTo>
                <a:close/>
              </a:path>
            </a:pathLst>
          </a:custGeom>
          <a:blipFill>
            <a:blip r:embed="rId2"/>
            <a:stretch>
              <a:fillRect l="0" t="-8117" r="0" b="-624"/>
            </a:stretch>
          </a:blipFill>
        </p:spPr>
      </p:sp>
      <p:sp>
        <p:nvSpPr>
          <p:cNvPr name="TextBox 3" id="3"/>
          <p:cNvSpPr txBox="true"/>
          <p:nvPr/>
        </p:nvSpPr>
        <p:spPr>
          <a:xfrm rot="0">
            <a:off x="507028" y="448310"/>
            <a:ext cx="17273944" cy="580390"/>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Q12: SHOW THE HIGHEST SCORE ACHIEVED ON EACH T</a:t>
            </a:r>
            <a:r>
              <a:rPr lang="en-US" sz="3399">
                <a:solidFill>
                  <a:srgbClr val="FFFFFF"/>
                </a:solidFill>
                <a:latin typeface="Libre Baskerville"/>
                <a:ea typeface="Libre Baskerville"/>
                <a:cs typeface="Libre Baskerville"/>
                <a:sym typeface="Libre Baskerville"/>
              </a:rPr>
              <a:t>YPE OF TEST</a:t>
            </a:r>
          </a:p>
        </p:txBody>
      </p:sp>
      <p:sp>
        <p:nvSpPr>
          <p:cNvPr name="TextBox 4" id="4"/>
          <p:cNvSpPr txBox="true"/>
          <p:nvPr/>
        </p:nvSpPr>
        <p:spPr>
          <a:xfrm rot="0">
            <a:off x="507028" y="714692"/>
            <a:ext cx="7624905" cy="3976708"/>
          </a:xfrm>
          <a:prstGeom prst="rect">
            <a:avLst/>
          </a:prstGeom>
        </p:spPr>
        <p:txBody>
          <a:bodyPr anchor="t" rtlCol="false" tIns="0" lIns="0" bIns="0" rIns="0">
            <a:spAutoFit/>
          </a:bodyPr>
          <a:lstStyle/>
          <a:p>
            <a:pPr algn="ctr">
              <a:lnSpc>
                <a:spcPts val="3957"/>
              </a:lnSpc>
            </a:pPr>
          </a:p>
          <a:p>
            <a:pPr algn="ctr">
              <a:lnSpc>
                <a:spcPts val="3957"/>
              </a:lnSpc>
            </a:pPr>
            <a:r>
              <a:rPr lang="en-US" sz="2826">
                <a:solidFill>
                  <a:srgbClr val="FFDE59"/>
                </a:solidFill>
                <a:latin typeface="Libre Baskerville"/>
                <a:ea typeface="Libre Baskerville"/>
                <a:cs typeface="Libre Baskerville"/>
                <a:sym typeface="Libre Baskerville"/>
              </a:rPr>
              <a:t>SELECT TT.test_name, MAX(TR.score) AS top_score</a:t>
            </a:r>
          </a:p>
          <a:p>
            <a:pPr algn="ctr">
              <a:lnSpc>
                <a:spcPts val="3957"/>
              </a:lnSpc>
            </a:pPr>
            <a:r>
              <a:rPr lang="en-US" sz="2826">
                <a:solidFill>
                  <a:srgbClr val="FFDE59"/>
                </a:solidFill>
                <a:latin typeface="Libre Baskerville"/>
                <a:ea typeface="Libre Baskerville"/>
                <a:cs typeface="Libre Baskerville"/>
                <a:sym typeface="Libre Baskerville"/>
              </a:rPr>
              <a:t>FROM TestTypes TT</a:t>
            </a:r>
          </a:p>
          <a:p>
            <a:pPr algn="ctr">
              <a:lnSpc>
                <a:spcPts val="3957"/>
              </a:lnSpc>
            </a:pPr>
            <a:r>
              <a:rPr lang="en-US" sz="2826">
                <a:solidFill>
                  <a:srgbClr val="FFDE59"/>
                </a:solidFill>
                <a:latin typeface="Libre Baskerville"/>
                <a:ea typeface="Libre Baskerville"/>
                <a:cs typeface="Libre Baskerville"/>
                <a:sym typeface="Libre Baskerville"/>
              </a:rPr>
              <a:t>JOIN TestRecords TR ON TT.test_id = TR.test_id</a:t>
            </a:r>
          </a:p>
          <a:p>
            <a:pPr algn="ctr">
              <a:lnSpc>
                <a:spcPts val="3957"/>
              </a:lnSpc>
            </a:pPr>
            <a:r>
              <a:rPr lang="en-US" sz="2826">
                <a:solidFill>
                  <a:srgbClr val="FFDE59"/>
                </a:solidFill>
                <a:latin typeface="Libre Baskerville"/>
                <a:ea typeface="Libre Baskerville"/>
                <a:cs typeface="Libre Baskerville"/>
                <a:sym typeface="Libre Baskerville"/>
              </a:rPr>
              <a:t>GROUP BY TT.test_name;</a:t>
            </a:r>
          </a:p>
          <a:p>
            <a:pPr algn="ctr">
              <a:lnSpc>
                <a:spcPts val="3957"/>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5498720" y="5286131"/>
            <a:ext cx="7882839" cy="3172337"/>
          </a:xfrm>
          <a:custGeom>
            <a:avLst/>
            <a:gdLst/>
            <a:ahLst/>
            <a:cxnLst/>
            <a:rect r="r" b="b" t="t" l="l"/>
            <a:pathLst>
              <a:path h="3172337" w="7882839">
                <a:moveTo>
                  <a:pt x="0" y="0"/>
                </a:moveTo>
                <a:lnTo>
                  <a:pt x="7882839" y="0"/>
                </a:lnTo>
                <a:lnTo>
                  <a:pt x="7882839" y="3172338"/>
                </a:lnTo>
                <a:lnTo>
                  <a:pt x="0" y="3172338"/>
                </a:lnTo>
                <a:lnTo>
                  <a:pt x="0" y="0"/>
                </a:lnTo>
                <a:close/>
              </a:path>
            </a:pathLst>
          </a:custGeom>
          <a:blipFill>
            <a:blip r:embed="rId2"/>
            <a:stretch>
              <a:fillRect l="0" t="-4496" r="0" b="0"/>
            </a:stretch>
          </a:blipFill>
        </p:spPr>
      </p:sp>
      <p:sp>
        <p:nvSpPr>
          <p:cNvPr name="TextBox 3" id="3"/>
          <p:cNvSpPr txBox="true"/>
          <p:nvPr/>
        </p:nvSpPr>
        <p:spPr>
          <a:xfrm rot="0">
            <a:off x="498807" y="448310"/>
            <a:ext cx="17575649" cy="580390"/>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a:t>
            </a:r>
            <a:r>
              <a:rPr lang="en-US" sz="3399">
                <a:solidFill>
                  <a:srgbClr val="FFFFFF"/>
                </a:solidFill>
                <a:latin typeface="Libre Baskerville"/>
                <a:ea typeface="Libre Baskerville"/>
                <a:cs typeface="Libre Baskerville"/>
                <a:sym typeface="Libre Baskerville"/>
              </a:rPr>
              <a:t> Q13: FIND TECHNICIANS WHO ARE EXPERTS IN MORE THAN 1 MODEL</a:t>
            </a:r>
          </a:p>
        </p:txBody>
      </p:sp>
      <p:sp>
        <p:nvSpPr>
          <p:cNvPr name="TextBox 4" id="4"/>
          <p:cNvSpPr txBox="true"/>
          <p:nvPr/>
        </p:nvSpPr>
        <p:spPr>
          <a:xfrm rot="0">
            <a:off x="498807" y="971550"/>
            <a:ext cx="8502699" cy="4171950"/>
          </a:xfrm>
          <a:prstGeom prst="rect">
            <a:avLst/>
          </a:prstGeom>
        </p:spPr>
        <p:txBody>
          <a:bodyPr anchor="t" rtlCol="false" tIns="0" lIns="0" bIns="0" rIns="0">
            <a:spAutoFit/>
          </a:bodyPr>
          <a:lstStyle/>
          <a:p>
            <a:pPr algn="ctr">
              <a:lnSpc>
                <a:spcPts val="4154"/>
              </a:lnSpc>
            </a:pPr>
          </a:p>
          <a:p>
            <a:pPr algn="ctr">
              <a:lnSpc>
                <a:spcPts val="4154"/>
              </a:lnSpc>
            </a:pPr>
            <a:r>
              <a:rPr lang="en-US" sz="2967">
                <a:solidFill>
                  <a:srgbClr val="FFDE59"/>
                </a:solidFill>
                <a:latin typeface="Libre Baskerville"/>
                <a:ea typeface="Libre Baskerville"/>
                <a:cs typeface="Libre Baskerville"/>
                <a:sym typeface="Libre Baskerville"/>
              </a:rPr>
              <a:t>SELECT E.full_name, COUNT(EX.model_id) AS models_known</a:t>
            </a:r>
          </a:p>
          <a:p>
            <a:pPr algn="ctr">
              <a:lnSpc>
                <a:spcPts val="4154"/>
              </a:lnSpc>
            </a:pPr>
            <a:r>
              <a:rPr lang="en-US" sz="2967">
                <a:solidFill>
                  <a:srgbClr val="FFDE59"/>
                </a:solidFill>
                <a:latin typeface="Libre Baskerville"/>
                <a:ea typeface="Libre Baskerville"/>
                <a:cs typeface="Libre Baskerville"/>
                <a:sym typeface="Libre Baskerville"/>
              </a:rPr>
              <a:t>FROM Employees E</a:t>
            </a:r>
          </a:p>
          <a:p>
            <a:pPr algn="ctr">
              <a:lnSpc>
                <a:spcPts val="4154"/>
              </a:lnSpc>
            </a:pPr>
            <a:r>
              <a:rPr lang="en-US" sz="2967">
                <a:solidFill>
                  <a:srgbClr val="FFDE59"/>
                </a:solidFill>
                <a:latin typeface="Libre Baskerville"/>
                <a:ea typeface="Libre Baskerville"/>
                <a:cs typeface="Libre Baskerville"/>
                <a:sym typeface="Libre Baskerville"/>
              </a:rPr>
              <a:t>JOIN Expertise EX ON E.ssn = EX.ssn</a:t>
            </a:r>
          </a:p>
          <a:p>
            <a:pPr algn="ctr">
              <a:lnSpc>
                <a:spcPts val="4154"/>
              </a:lnSpc>
            </a:pPr>
            <a:r>
              <a:rPr lang="en-US" sz="2967">
                <a:solidFill>
                  <a:srgbClr val="FFDE59"/>
                </a:solidFill>
                <a:latin typeface="Libre Baskerville"/>
                <a:ea typeface="Libre Baskerville"/>
                <a:cs typeface="Libre Baskerville"/>
                <a:sym typeface="Libre Baskerville"/>
              </a:rPr>
              <a:t>GROUP BY E.full_name</a:t>
            </a:r>
          </a:p>
          <a:p>
            <a:pPr algn="ctr">
              <a:lnSpc>
                <a:spcPts val="4154"/>
              </a:lnSpc>
            </a:pPr>
            <a:r>
              <a:rPr lang="en-US" sz="2967">
                <a:solidFill>
                  <a:srgbClr val="FFDE59"/>
                </a:solidFill>
                <a:latin typeface="Libre Baskerville"/>
                <a:ea typeface="Libre Baskerville"/>
                <a:cs typeface="Libre Baskerville"/>
                <a:sym typeface="Libre Baskerville"/>
              </a:rPr>
              <a:t>HAVING COUNT(EX.model_id) &gt; 1;</a:t>
            </a:r>
          </a:p>
          <a:p>
            <a:pPr algn="ctr">
              <a:lnSpc>
                <a:spcPts val="4154"/>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4776767" y="5653589"/>
            <a:ext cx="8734467" cy="3172324"/>
          </a:xfrm>
          <a:custGeom>
            <a:avLst/>
            <a:gdLst/>
            <a:ahLst/>
            <a:cxnLst/>
            <a:rect r="r" b="b" t="t" l="l"/>
            <a:pathLst>
              <a:path h="3172324" w="8734467">
                <a:moveTo>
                  <a:pt x="0" y="0"/>
                </a:moveTo>
                <a:lnTo>
                  <a:pt x="8734466" y="0"/>
                </a:lnTo>
                <a:lnTo>
                  <a:pt x="8734466" y="3172325"/>
                </a:lnTo>
                <a:lnTo>
                  <a:pt x="0" y="3172325"/>
                </a:lnTo>
                <a:lnTo>
                  <a:pt x="0" y="0"/>
                </a:lnTo>
                <a:close/>
              </a:path>
            </a:pathLst>
          </a:custGeom>
          <a:blipFill>
            <a:blip r:embed="rId2"/>
            <a:stretch>
              <a:fillRect l="0" t="0" r="0" b="0"/>
            </a:stretch>
          </a:blipFill>
        </p:spPr>
      </p:sp>
      <p:sp>
        <p:nvSpPr>
          <p:cNvPr name="TextBox 3" id="3"/>
          <p:cNvSpPr txBox="true"/>
          <p:nvPr/>
        </p:nvSpPr>
        <p:spPr>
          <a:xfrm rot="0">
            <a:off x="505777" y="448310"/>
            <a:ext cx="17276445" cy="580390"/>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Q14: JOIN EMPLO</a:t>
            </a:r>
            <a:r>
              <a:rPr lang="en-US" sz="3399">
                <a:solidFill>
                  <a:srgbClr val="FFFFFF"/>
                </a:solidFill>
                <a:latin typeface="Libre Baskerville"/>
                <a:ea typeface="Libre Baskerville"/>
                <a:cs typeface="Libre Baskerville"/>
                <a:sym typeface="Libre Baskerville"/>
              </a:rPr>
              <a:t>YEES, TESTRECORDS, AND TESTTYPES (3-WAY JOIN)</a:t>
            </a:r>
          </a:p>
        </p:txBody>
      </p:sp>
      <p:sp>
        <p:nvSpPr>
          <p:cNvPr name="TextBox 4" id="4"/>
          <p:cNvSpPr txBox="true"/>
          <p:nvPr/>
        </p:nvSpPr>
        <p:spPr>
          <a:xfrm rot="0">
            <a:off x="591230" y="971550"/>
            <a:ext cx="7175413" cy="4515636"/>
          </a:xfrm>
          <a:prstGeom prst="rect">
            <a:avLst/>
          </a:prstGeom>
        </p:spPr>
        <p:txBody>
          <a:bodyPr anchor="t" rtlCol="false" tIns="0" lIns="0" bIns="0" rIns="0">
            <a:spAutoFit/>
          </a:bodyPr>
          <a:lstStyle/>
          <a:p>
            <a:pPr algn="ctr">
              <a:lnSpc>
                <a:spcPts val="3993"/>
              </a:lnSpc>
            </a:pPr>
          </a:p>
          <a:p>
            <a:pPr algn="ctr">
              <a:lnSpc>
                <a:spcPts val="3993"/>
              </a:lnSpc>
            </a:pPr>
            <a:r>
              <a:rPr lang="en-US" sz="2852">
                <a:solidFill>
                  <a:srgbClr val="FFDE59"/>
                </a:solidFill>
                <a:latin typeface="Libre Baskerville"/>
                <a:ea typeface="Libre Baskerville"/>
                <a:cs typeface="Libre Baskerville"/>
                <a:sym typeface="Libre Baskerville"/>
              </a:rPr>
              <a:t>SELECT E.full_name AS Technician, TT.test_name, TR.score</a:t>
            </a:r>
          </a:p>
          <a:p>
            <a:pPr algn="ctr">
              <a:lnSpc>
                <a:spcPts val="3993"/>
              </a:lnSpc>
            </a:pPr>
            <a:r>
              <a:rPr lang="en-US" sz="2852">
                <a:solidFill>
                  <a:srgbClr val="FFDE59"/>
                </a:solidFill>
                <a:latin typeface="Libre Baskerville"/>
                <a:ea typeface="Libre Baskerville"/>
                <a:cs typeface="Libre Baskerville"/>
                <a:sym typeface="Libre Baskerville"/>
              </a:rPr>
              <a:t>FROM Employees E</a:t>
            </a:r>
          </a:p>
          <a:p>
            <a:pPr algn="ctr">
              <a:lnSpc>
                <a:spcPts val="3993"/>
              </a:lnSpc>
            </a:pPr>
            <a:r>
              <a:rPr lang="en-US" sz="2852">
                <a:solidFill>
                  <a:srgbClr val="FFDE59"/>
                </a:solidFill>
                <a:latin typeface="Libre Baskerville"/>
                <a:ea typeface="Libre Baskerville"/>
                <a:cs typeface="Libre Baskerville"/>
                <a:sym typeface="Libre Baskerville"/>
              </a:rPr>
              <a:t>JOIN TestRecords TR ON E.ssn = TR.ssn</a:t>
            </a:r>
          </a:p>
          <a:p>
            <a:pPr algn="ctr">
              <a:lnSpc>
                <a:spcPts val="3993"/>
              </a:lnSpc>
            </a:pPr>
            <a:r>
              <a:rPr lang="en-US" sz="2852">
                <a:solidFill>
                  <a:srgbClr val="FFDE59"/>
                </a:solidFill>
                <a:latin typeface="Libre Baskerville"/>
                <a:ea typeface="Libre Baskerville"/>
                <a:cs typeface="Libre Baskerville"/>
                <a:sym typeface="Libre Baskerville"/>
              </a:rPr>
              <a:t>JOIN TestTypes TT ON TR.test_id = TT.test_id;</a:t>
            </a:r>
          </a:p>
          <a:p>
            <a:pPr algn="ctr">
              <a:lnSpc>
                <a:spcPts val="3993"/>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3B352E"/>
        </a:solidFill>
      </p:bgPr>
    </p:bg>
    <p:spTree>
      <p:nvGrpSpPr>
        <p:cNvPr id="1" name=""/>
        <p:cNvGrpSpPr/>
        <p:nvPr/>
      </p:nvGrpSpPr>
      <p:grpSpPr>
        <a:xfrm>
          <a:off x="0" y="0"/>
          <a:ext cx="0" cy="0"/>
          <a:chOff x="0" y="0"/>
          <a:chExt cx="0" cy="0"/>
        </a:xfrm>
      </p:grpSpPr>
      <p:sp>
        <p:nvSpPr>
          <p:cNvPr name="Freeform 2" id="2"/>
          <p:cNvSpPr/>
          <p:nvPr/>
        </p:nvSpPr>
        <p:spPr>
          <a:xfrm flipH="false" flipV="false" rot="0">
            <a:off x="5639307" y="4761105"/>
            <a:ext cx="7009386" cy="3551858"/>
          </a:xfrm>
          <a:custGeom>
            <a:avLst/>
            <a:gdLst/>
            <a:ahLst/>
            <a:cxnLst/>
            <a:rect r="r" b="b" t="t" l="l"/>
            <a:pathLst>
              <a:path h="3551858" w="7009386">
                <a:moveTo>
                  <a:pt x="0" y="0"/>
                </a:moveTo>
                <a:lnTo>
                  <a:pt x="7009386" y="0"/>
                </a:lnTo>
                <a:lnTo>
                  <a:pt x="7009386" y="3551858"/>
                </a:lnTo>
                <a:lnTo>
                  <a:pt x="0" y="3551858"/>
                </a:lnTo>
                <a:lnTo>
                  <a:pt x="0" y="0"/>
                </a:lnTo>
                <a:close/>
              </a:path>
            </a:pathLst>
          </a:custGeom>
          <a:blipFill>
            <a:blip r:embed="rId2"/>
            <a:stretch>
              <a:fillRect l="0" t="-6266" r="0" b="-4873"/>
            </a:stretch>
          </a:blipFill>
        </p:spPr>
      </p:sp>
      <p:sp>
        <p:nvSpPr>
          <p:cNvPr name="TextBox 3" id="3"/>
          <p:cNvSpPr txBox="true"/>
          <p:nvPr/>
        </p:nvSpPr>
        <p:spPr>
          <a:xfrm rot="0">
            <a:off x="-237719" y="208224"/>
            <a:ext cx="18288000" cy="1180465"/>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 Q15: COMPARE TOTAL SALAR</a:t>
            </a:r>
            <a:r>
              <a:rPr lang="en-US" sz="3399">
                <a:solidFill>
                  <a:srgbClr val="FFFFFF"/>
                </a:solidFill>
                <a:latin typeface="Libre Baskerville"/>
                <a:ea typeface="Libre Baskerville"/>
                <a:cs typeface="Libre Baskerville"/>
                <a:sym typeface="Libre Baskerville"/>
              </a:rPr>
              <a:t>Y BUDGET: TECHNICIANS VS CONTROLLERS</a:t>
            </a:r>
          </a:p>
        </p:txBody>
      </p:sp>
      <p:sp>
        <p:nvSpPr>
          <p:cNvPr name="TextBox 4" id="4"/>
          <p:cNvSpPr txBox="true"/>
          <p:nvPr/>
        </p:nvSpPr>
        <p:spPr>
          <a:xfrm rot="0">
            <a:off x="243985" y="1331539"/>
            <a:ext cx="12583776" cy="3429566"/>
          </a:xfrm>
          <a:prstGeom prst="rect">
            <a:avLst/>
          </a:prstGeom>
        </p:spPr>
        <p:txBody>
          <a:bodyPr anchor="t" rtlCol="false" tIns="0" lIns="0" bIns="0" rIns="0">
            <a:spAutoFit/>
          </a:bodyPr>
          <a:lstStyle/>
          <a:p>
            <a:pPr algn="ctr">
              <a:lnSpc>
                <a:spcPts val="3901"/>
              </a:lnSpc>
            </a:pPr>
          </a:p>
          <a:p>
            <a:pPr algn="ctr">
              <a:lnSpc>
                <a:spcPts val="3901"/>
              </a:lnSpc>
            </a:pPr>
            <a:r>
              <a:rPr lang="en-US" sz="2787">
                <a:solidFill>
                  <a:srgbClr val="FFDE59"/>
                </a:solidFill>
                <a:latin typeface="Libre Baskerville"/>
                <a:ea typeface="Libre Baskerville"/>
                <a:cs typeface="Libre Baskerville"/>
                <a:sym typeface="Libre Baskerville"/>
              </a:rPr>
              <a:t>SELECT 'Technician' AS Role, SUM(salary) FROM Employees WHERE ssn IN (SELECT ssn FROM Technicians)</a:t>
            </a:r>
          </a:p>
          <a:p>
            <a:pPr algn="ctr">
              <a:lnSpc>
                <a:spcPts val="3901"/>
              </a:lnSpc>
            </a:pPr>
            <a:r>
              <a:rPr lang="en-US" sz="2787">
                <a:solidFill>
                  <a:srgbClr val="FFDE59"/>
                </a:solidFill>
                <a:latin typeface="Libre Baskerville"/>
                <a:ea typeface="Libre Baskerville"/>
                <a:cs typeface="Libre Baskerville"/>
                <a:sym typeface="Libre Baskerville"/>
              </a:rPr>
              <a:t>UNION</a:t>
            </a:r>
          </a:p>
          <a:p>
            <a:pPr algn="ctr">
              <a:lnSpc>
                <a:spcPts val="3901"/>
              </a:lnSpc>
            </a:pPr>
            <a:r>
              <a:rPr lang="en-US" sz="2787">
                <a:solidFill>
                  <a:srgbClr val="FFDE59"/>
                </a:solidFill>
                <a:latin typeface="Libre Baskerville"/>
                <a:ea typeface="Libre Baskerville"/>
                <a:cs typeface="Libre Baskerville"/>
                <a:sym typeface="Libre Baskerville"/>
              </a:rPr>
              <a:t>SELECT 'Controller', SUM(salary) FROM Employees WHERE ssn IN (SELECT ssn FROM TrafficControllers);</a:t>
            </a:r>
          </a:p>
          <a:p>
            <a:pPr algn="ctr">
              <a:lnSpc>
                <a:spcPts val="3901"/>
              </a:lnSpc>
            </a:pP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2074820" y="276272"/>
            <a:ext cx="7938778" cy="1352455"/>
          </a:xfrm>
          <a:prstGeom prst="rect">
            <a:avLst/>
          </a:prstGeom>
        </p:spPr>
        <p:txBody>
          <a:bodyPr anchor="t" rtlCol="false" tIns="0" lIns="0" bIns="0" rIns="0">
            <a:spAutoFit/>
          </a:bodyPr>
          <a:lstStyle/>
          <a:p>
            <a:pPr algn="ctr">
              <a:lnSpc>
                <a:spcPts val="11119"/>
              </a:lnSpc>
              <a:spcBef>
                <a:spcPct val="0"/>
              </a:spcBef>
            </a:pPr>
            <a:r>
              <a:rPr lang="en-US" sz="7942">
                <a:solidFill>
                  <a:srgbClr val="FFFFFF"/>
                </a:solidFill>
                <a:latin typeface="Libre Baskerville"/>
                <a:ea typeface="Libre Baskerville"/>
                <a:cs typeface="Libre Baskerville"/>
                <a:sym typeface="Libre Baskerville"/>
              </a:rPr>
              <a:t>CONCLUSION</a:t>
            </a:r>
          </a:p>
        </p:txBody>
      </p:sp>
      <p:sp>
        <p:nvSpPr>
          <p:cNvPr name="TextBox 3" id="3"/>
          <p:cNvSpPr txBox="true"/>
          <p:nvPr/>
        </p:nvSpPr>
        <p:spPr>
          <a:xfrm rot="0">
            <a:off x="514350" y="2578658"/>
            <a:ext cx="17259300" cy="5072535"/>
          </a:xfrm>
          <a:prstGeom prst="rect">
            <a:avLst/>
          </a:prstGeom>
        </p:spPr>
        <p:txBody>
          <a:bodyPr anchor="t" rtlCol="false" tIns="0" lIns="0" bIns="0" rIns="0">
            <a:spAutoFit/>
          </a:bodyPr>
          <a:lstStyle/>
          <a:p>
            <a:pPr algn="ctr">
              <a:lnSpc>
                <a:spcPts val="4492"/>
              </a:lnSpc>
            </a:pPr>
            <a:r>
              <a:rPr lang="en-US" sz="3208">
                <a:solidFill>
                  <a:srgbClr val="FFFFFF"/>
                </a:solidFill>
                <a:latin typeface="Libre Baskerville"/>
                <a:ea typeface="Libre Baskerville"/>
                <a:cs typeface="Libre Baskerville"/>
                <a:sym typeface="Libre Baskerville"/>
              </a:rPr>
              <a:t>The design and implementation of the Ercan </a:t>
            </a:r>
            <a:r>
              <a:rPr lang="en-US" sz="3208">
                <a:solidFill>
                  <a:srgbClr val="FFFFFF"/>
                </a:solidFill>
                <a:latin typeface="Libre Baskerville"/>
                <a:ea typeface="Libre Baskerville"/>
                <a:cs typeface="Libre Baskerville"/>
                <a:sym typeface="Libre Baskerville"/>
              </a:rPr>
              <a:t>Airport database successfully demonstrate how a relational model can streamline complex aviation operations. By organizing data into ten normalized tables, we have created a system that ensures data integrity while providing deep insights into employee management, technician certifications, and aircraft maintenance history. The 15 SQL queries developed for this project serve as powerful management tools, allowing for real-time tracking of hangar capacity and safety test performance. Overall, this database provides a scalable and robust foundation that can be easily expanded to include flight scheduling and passenger services in the future.</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7395225" y="4108879"/>
            <a:ext cx="2976086" cy="580390"/>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Libre Baskerville"/>
                <a:ea typeface="Libre Baskerville"/>
                <a:cs typeface="Libre Baskerville"/>
                <a:sym typeface="Libre Baskerville"/>
              </a:rPr>
              <a:t>THANK YOU</a:t>
            </a:r>
          </a:p>
        </p:txBody>
      </p:sp>
      <p:sp>
        <p:nvSpPr>
          <p:cNvPr name="TextBox 3" id="3"/>
          <p:cNvSpPr txBox="true"/>
          <p:nvPr/>
        </p:nvSpPr>
        <p:spPr>
          <a:xfrm rot="0">
            <a:off x="11947951" y="8067270"/>
            <a:ext cx="5532477" cy="580390"/>
          </a:xfrm>
          <a:prstGeom prst="rect">
            <a:avLst/>
          </a:prstGeom>
        </p:spPr>
        <p:txBody>
          <a:bodyPr anchor="t" rtlCol="false" tIns="0" lIns="0" bIns="0" rIns="0">
            <a:spAutoFit/>
          </a:bodyPr>
          <a:lstStyle/>
          <a:p>
            <a:pPr algn="ctr">
              <a:lnSpc>
                <a:spcPts val="4759"/>
              </a:lnSpc>
            </a:pPr>
            <a:r>
              <a:rPr lang="en-US" sz="3399">
                <a:solidFill>
                  <a:srgbClr val="FFFFFF"/>
                </a:solidFill>
                <a:latin typeface="Canva Sans"/>
                <a:ea typeface="Canva Sans"/>
                <a:cs typeface="Canva Sans"/>
                <a:sym typeface="Canva Sans"/>
              </a:rPr>
              <a:t>Asst. Prof. Dr. Yasemin BAY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DAHJAL8U1XY</dc:identifier>
  <dcterms:modified xsi:type="dcterms:W3CDTF">2011-08-01T06:04:30Z</dcterms:modified>
  <cp:revision>1</cp:revision>
  <dc:title>project presentation &amp; report</dc:title>
</cp:coreProperties>
</file>